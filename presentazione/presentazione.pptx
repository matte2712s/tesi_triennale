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5" d="100"/>
          <a:sy n="155" d="100"/>
        </p:scale>
        <p:origin x="1013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3840" y="647581"/>
            <a:ext cx="3538118" cy="38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90866" y="1184020"/>
            <a:ext cx="4378325" cy="82550"/>
          </a:xfrm>
          <a:custGeom>
            <a:avLst/>
            <a:gdLst/>
            <a:ahLst/>
            <a:cxnLst/>
            <a:rect l="l" t="t" r="r" b="b"/>
            <a:pathLst>
              <a:path w="4378325" h="82550">
                <a:moveTo>
                  <a:pt x="432751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378317" y="82384"/>
                </a:lnTo>
                <a:lnTo>
                  <a:pt x="4378317" y="50800"/>
                </a:lnTo>
                <a:lnTo>
                  <a:pt x="4374309" y="31075"/>
                </a:lnTo>
                <a:lnTo>
                  <a:pt x="4363395" y="14922"/>
                </a:lnTo>
                <a:lnTo>
                  <a:pt x="4347242" y="4008"/>
                </a:lnTo>
                <a:lnTo>
                  <a:pt x="4327517" y="0"/>
                </a:lnTo>
                <a:close/>
              </a:path>
            </a:pathLst>
          </a:custGeom>
          <a:solidFill>
            <a:srgbClr val="00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1667" y="1247285"/>
            <a:ext cx="4378325" cy="567055"/>
          </a:xfrm>
          <a:custGeom>
            <a:avLst/>
            <a:gdLst/>
            <a:ahLst/>
            <a:cxnLst/>
            <a:rect l="l" t="t" r="r" b="b"/>
            <a:pathLst>
              <a:path w="4378325" h="567055">
                <a:moveTo>
                  <a:pt x="4378317" y="0"/>
                </a:moveTo>
                <a:lnTo>
                  <a:pt x="0" y="0"/>
                </a:lnTo>
                <a:lnTo>
                  <a:pt x="0" y="566656"/>
                </a:lnTo>
                <a:lnTo>
                  <a:pt x="4378317" y="566656"/>
                </a:lnTo>
                <a:lnTo>
                  <a:pt x="43783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0866" y="1228448"/>
            <a:ext cx="4378325" cy="535305"/>
          </a:xfrm>
          <a:custGeom>
            <a:avLst/>
            <a:gdLst/>
            <a:ahLst/>
            <a:cxnLst/>
            <a:rect l="l" t="t" r="r" b="b"/>
            <a:pathLst>
              <a:path w="4378325" h="535305">
                <a:moveTo>
                  <a:pt x="4378317" y="0"/>
                </a:moveTo>
                <a:lnTo>
                  <a:pt x="0" y="0"/>
                </a:lnTo>
                <a:lnTo>
                  <a:pt x="0" y="483891"/>
                </a:lnTo>
                <a:lnTo>
                  <a:pt x="4008" y="503616"/>
                </a:lnTo>
                <a:lnTo>
                  <a:pt x="14922" y="519769"/>
                </a:lnTo>
                <a:lnTo>
                  <a:pt x="31075" y="530683"/>
                </a:lnTo>
                <a:lnTo>
                  <a:pt x="50800" y="534692"/>
                </a:lnTo>
                <a:lnTo>
                  <a:pt x="4327517" y="534692"/>
                </a:lnTo>
                <a:lnTo>
                  <a:pt x="4347242" y="530683"/>
                </a:lnTo>
                <a:lnTo>
                  <a:pt x="4363395" y="519769"/>
                </a:lnTo>
                <a:lnTo>
                  <a:pt x="4374309" y="503616"/>
                </a:lnTo>
                <a:lnTo>
                  <a:pt x="4378317" y="483891"/>
                </a:lnTo>
                <a:lnTo>
                  <a:pt x="4378317" y="0"/>
                </a:lnTo>
                <a:close/>
              </a:path>
            </a:pathLst>
          </a:custGeom>
          <a:solidFill>
            <a:srgbClr val="00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11785"/>
          </a:xfrm>
          <a:custGeom>
            <a:avLst/>
            <a:gdLst/>
            <a:ahLst/>
            <a:cxnLst/>
            <a:rect l="l" t="t" r="r" b="b"/>
            <a:pathLst>
              <a:path w="5760085" h="311785">
                <a:moveTo>
                  <a:pt x="5759996" y="0"/>
                </a:moveTo>
                <a:lnTo>
                  <a:pt x="0" y="0"/>
                </a:lnTo>
                <a:lnTo>
                  <a:pt x="0" y="311353"/>
                </a:lnTo>
                <a:lnTo>
                  <a:pt x="5759996" y="311353"/>
                </a:lnTo>
                <a:lnTo>
                  <a:pt x="5759996" y="0"/>
                </a:lnTo>
                <a:close/>
              </a:path>
            </a:pathLst>
          </a:custGeom>
          <a:solidFill>
            <a:srgbClr val="00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2526"/>
            <a:ext cx="3323590" cy="20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811" y="635025"/>
            <a:ext cx="2679700" cy="2138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27764" y="3137167"/>
            <a:ext cx="303644" cy="100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‹#›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1975"/>
            <a:ext cx="5635625" cy="739775"/>
            <a:chOff x="87743" y="61975"/>
            <a:chExt cx="5635625" cy="739775"/>
          </a:xfrm>
        </p:grpSpPr>
        <p:sp>
          <p:nvSpPr>
            <p:cNvPr id="3" name="object 3"/>
            <p:cNvSpPr/>
            <p:nvPr/>
          </p:nvSpPr>
          <p:spPr>
            <a:xfrm>
              <a:off x="87743" y="61975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125230"/>
              <a:ext cx="5584825" cy="676910"/>
            </a:xfrm>
            <a:custGeom>
              <a:avLst/>
              <a:gdLst/>
              <a:ahLst/>
              <a:cxnLst/>
              <a:rect l="l" t="t" r="r" b="b"/>
              <a:pathLst>
                <a:path w="5584825" h="676910">
                  <a:moveTo>
                    <a:pt x="5584580" y="0"/>
                  </a:moveTo>
                  <a:lnTo>
                    <a:pt x="0" y="0"/>
                  </a:lnTo>
                  <a:lnTo>
                    <a:pt x="0" y="676444"/>
                  </a:lnTo>
                  <a:lnTo>
                    <a:pt x="5584580" y="676444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106394"/>
              <a:ext cx="5584825" cy="644525"/>
            </a:xfrm>
            <a:custGeom>
              <a:avLst/>
              <a:gdLst/>
              <a:ahLst/>
              <a:cxnLst/>
              <a:rect l="l" t="t" r="r" b="b"/>
              <a:pathLst>
                <a:path w="5584825" h="644525">
                  <a:moveTo>
                    <a:pt x="5584580" y="0"/>
                  </a:moveTo>
                  <a:lnTo>
                    <a:pt x="0" y="0"/>
                  </a:lnTo>
                  <a:lnTo>
                    <a:pt x="0" y="593680"/>
                  </a:lnTo>
                  <a:lnTo>
                    <a:pt x="4008" y="613405"/>
                  </a:lnTo>
                  <a:lnTo>
                    <a:pt x="14922" y="629558"/>
                  </a:lnTo>
                  <a:lnTo>
                    <a:pt x="31075" y="640472"/>
                  </a:lnTo>
                  <a:lnTo>
                    <a:pt x="50800" y="644480"/>
                  </a:lnTo>
                  <a:lnTo>
                    <a:pt x="5533779" y="644480"/>
                  </a:lnTo>
                  <a:lnTo>
                    <a:pt x="5553504" y="640472"/>
                  </a:lnTo>
                  <a:lnTo>
                    <a:pt x="5569657" y="629558"/>
                  </a:lnTo>
                  <a:lnTo>
                    <a:pt x="5580571" y="613405"/>
                  </a:lnTo>
                  <a:lnTo>
                    <a:pt x="5584580" y="593680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492489" y="964831"/>
            <a:ext cx="77533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Tahoma"/>
                <a:cs typeface="Tahoma"/>
              </a:rPr>
              <a:t>Matteo</a:t>
            </a:r>
            <a:r>
              <a:rPr sz="1100" spc="-7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Sardi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3652" y="1288516"/>
            <a:ext cx="3392804" cy="96139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995044" marR="987425" algn="ctr">
              <a:lnSpc>
                <a:spcPts val="950"/>
              </a:lnSpc>
              <a:spcBef>
                <a:spcPts val="145"/>
              </a:spcBef>
            </a:pPr>
            <a:r>
              <a:rPr sz="800" spc="-20" dirty="0">
                <a:latin typeface="Georgia"/>
                <a:cs typeface="Georgia"/>
              </a:rPr>
              <a:t>Universita</a:t>
            </a:r>
            <a:r>
              <a:rPr sz="800" spc="3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degli</a:t>
            </a:r>
            <a:r>
              <a:rPr sz="800" spc="3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Studi</a:t>
            </a:r>
            <a:r>
              <a:rPr sz="800" spc="3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di</a:t>
            </a:r>
            <a:r>
              <a:rPr sz="800" spc="30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Torino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Dipartimento</a:t>
            </a:r>
            <a:r>
              <a:rPr sz="800" spc="1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di</a:t>
            </a:r>
            <a:r>
              <a:rPr sz="800" spc="1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Informatica</a:t>
            </a:r>
            <a:endParaRPr sz="8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284"/>
              </a:spcBef>
              <a:tabLst>
                <a:tab pos="1642745" algn="l"/>
              </a:tabLst>
            </a:pPr>
            <a:r>
              <a:rPr sz="900" spc="-25" dirty="0">
                <a:latin typeface="Georgia"/>
                <a:cs typeface="Georgia"/>
              </a:rPr>
              <a:t>Relatore:</a:t>
            </a:r>
            <a:r>
              <a:rPr sz="900" spc="11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Prof.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Matteo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Sereno</a:t>
            </a:r>
            <a:r>
              <a:rPr sz="900" dirty="0">
                <a:latin typeface="Georgia"/>
                <a:cs typeface="Georgia"/>
              </a:rPr>
              <a:t>	</a:t>
            </a:r>
            <a:r>
              <a:rPr sz="900" spc="-30" dirty="0">
                <a:latin typeface="Georgia"/>
                <a:cs typeface="Georgia"/>
              </a:rPr>
              <a:t>Correlatore:</a:t>
            </a:r>
            <a:r>
              <a:rPr sz="900" spc="1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Dott.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Daniele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Baccega</a:t>
            </a:r>
            <a:endParaRPr sz="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900">
              <a:latin typeface="Georgia"/>
              <a:cs typeface="Georgia"/>
            </a:endParaRPr>
          </a:p>
          <a:p>
            <a:pPr marL="585470">
              <a:lnSpc>
                <a:spcPct val="100000"/>
              </a:lnSpc>
            </a:pPr>
            <a:r>
              <a:rPr sz="1100" spc="-25" dirty="0">
                <a:latin typeface="Tahoma"/>
                <a:cs typeface="Tahoma"/>
              </a:rPr>
              <a:t>Tesi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Laurea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Triennale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Informatica</a:t>
            </a:r>
            <a:endParaRPr sz="1100">
              <a:latin typeface="Tahoma"/>
              <a:cs typeface="Tahoma"/>
            </a:endParaRPr>
          </a:p>
          <a:p>
            <a:pPr marL="123380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A.A.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2025/2026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4447" y="2558704"/>
            <a:ext cx="431112" cy="53995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Struttura</a:t>
            </a:r>
            <a:r>
              <a:rPr spc="150" dirty="0"/>
              <a:t> </a:t>
            </a:r>
            <a:r>
              <a:rPr dirty="0"/>
              <a:t>della</a:t>
            </a:r>
            <a:r>
              <a:rPr spc="155" dirty="0"/>
              <a:t> </a:t>
            </a:r>
            <a:r>
              <a:rPr spc="-10" dirty="0"/>
              <a:t>presentazione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60120"/>
            <a:ext cx="2266950" cy="1551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0975" algn="l"/>
              </a:tabLst>
            </a:pPr>
            <a:r>
              <a:rPr sz="1100" spc="-30" dirty="0">
                <a:solidFill>
                  <a:schemeClr val="tx1"/>
                </a:solidFill>
                <a:latin typeface="Tahoma"/>
                <a:cs typeface="Tahom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Contesto</a:t>
            </a:r>
            <a:r>
              <a:rPr sz="1100" spc="-55" dirty="0">
                <a:solidFill>
                  <a:schemeClr val="tx1"/>
                </a:solidFill>
                <a:latin typeface="Tahoma"/>
                <a:cs typeface="Tahom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dirty="0">
                <a:solidFill>
                  <a:schemeClr val="tx1"/>
                </a:solidFill>
                <a:latin typeface="Tahoma"/>
                <a:cs typeface="Tahom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sz="1100" spc="-55" dirty="0">
                <a:solidFill>
                  <a:schemeClr val="tx1"/>
                </a:solidFill>
                <a:latin typeface="Tahoma"/>
                <a:cs typeface="Tahom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Tahoma"/>
                <a:cs typeface="Tahoma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Obiettivo</a:t>
            </a: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003F72"/>
              </a:buClr>
              <a:buFont typeface="Tahoma"/>
              <a:buAutoNum type="arabicPeriod"/>
            </a:pP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sz="1100" spc="-20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Stadio</a:t>
            </a:r>
            <a:r>
              <a:rPr sz="1100" spc="-60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1:</a:t>
            </a:r>
            <a:r>
              <a:rPr sz="1100" spc="60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Generazione</a:t>
            </a:r>
            <a:r>
              <a:rPr sz="1100" spc="-35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spc="-10" dirty="0">
                <a:solidFill>
                  <a:schemeClr val="tx1"/>
                </a:solidFill>
                <a:latin typeface="Tahoma"/>
                <a:cs typeface="Tahom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Sintetica</a:t>
            </a: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25"/>
              </a:spcBef>
              <a:buClr>
                <a:srgbClr val="003F72"/>
              </a:buClr>
              <a:buFont typeface="Tahoma"/>
              <a:buAutoNum type="arabicPeriod"/>
            </a:pP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sz="1100" spc="-20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Stadio</a:t>
            </a:r>
            <a:r>
              <a:rPr sz="1100" spc="-40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2:</a:t>
            </a:r>
            <a:r>
              <a:rPr sz="1100" spc="70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spc="-55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Segmentazione</a:t>
            </a:r>
            <a:r>
              <a:rPr sz="1100" spc="-35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00" spc="-30" dirty="0">
                <a:solidFill>
                  <a:schemeClr val="tx1"/>
                </a:solidFill>
                <a:latin typeface="Tahoma"/>
                <a:cs typeface="Tahom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Semantica</a:t>
            </a: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003F72"/>
              </a:buClr>
              <a:buFont typeface="Tahoma"/>
              <a:buAutoNum type="arabicPeriod"/>
            </a:pP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80975" indent="-168275">
              <a:lnSpc>
                <a:spcPct val="100000"/>
              </a:lnSpc>
              <a:buAutoNum type="arabicPeriod"/>
              <a:tabLst>
                <a:tab pos="180975" algn="l"/>
              </a:tabLst>
            </a:pPr>
            <a:r>
              <a:rPr sz="1100" spc="-10" dirty="0">
                <a:solidFill>
                  <a:schemeClr val="tx1"/>
                </a:solidFill>
                <a:latin typeface="Tahoma"/>
                <a:cs typeface="Tahoma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Conclusioni</a:t>
            </a:r>
            <a:endParaRPr sz="11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5" name="object 5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7728" y="3137167"/>
            <a:ext cx="233679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sz="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4836" y="1379639"/>
            <a:ext cx="1510665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45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Contesto</a:t>
            </a:r>
            <a:r>
              <a:rPr sz="1150" spc="12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sz="1150" spc="12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spc="6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Obiettivo</a:t>
            </a:r>
            <a:endParaRPr sz="11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Il</a:t>
            </a:r>
            <a:r>
              <a:rPr spc="5" dirty="0"/>
              <a:t> </a:t>
            </a:r>
            <a:r>
              <a:rPr dirty="0"/>
              <a:t>problema:</a:t>
            </a:r>
            <a:r>
              <a:rPr spc="110" dirty="0"/>
              <a:t> </a:t>
            </a:r>
            <a:r>
              <a:rPr spc="-20" dirty="0"/>
              <a:t>archivi</a:t>
            </a:r>
            <a:r>
              <a:rPr spc="5" dirty="0"/>
              <a:t> </a:t>
            </a:r>
            <a:r>
              <a:rPr spc="-30" dirty="0"/>
              <a:t>clinici</a:t>
            </a:r>
            <a:r>
              <a:rPr spc="5" dirty="0"/>
              <a:t> </a:t>
            </a:r>
            <a:r>
              <a:rPr dirty="0"/>
              <a:t>ancora</a:t>
            </a:r>
            <a:r>
              <a:rPr spc="10" dirty="0"/>
              <a:t> </a:t>
            </a:r>
            <a:r>
              <a:rPr dirty="0"/>
              <a:t>su</a:t>
            </a:r>
            <a:r>
              <a:rPr spc="5" dirty="0"/>
              <a:t> </a:t>
            </a:r>
            <a:r>
              <a:rPr spc="-20" dirty="0"/>
              <a:t>carta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811" y="692416"/>
            <a:ext cx="3117850" cy="2026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6530" marR="227329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40" dirty="0">
                <a:latin typeface="Tahoma"/>
                <a:cs typeface="Tahoma"/>
              </a:rPr>
              <a:t>L'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elettrocardiogramma</a:t>
            </a:r>
            <a:r>
              <a:rPr sz="1100" spc="3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8CA0"/>
                </a:solidFill>
                <a:latin typeface="Tahoma"/>
                <a:cs typeface="Tahoma"/>
              </a:rPr>
              <a:t>(ECG)</a:t>
            </a:r>
            <a:r>
              <a:rPr sz="1100" spc="35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registra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l'attivita </a:t>
            </a:r>
            <a:r>
              <a:rPr sz="1100" spc="-25" dirty="0">
                <a:latin typeface="Tahoma"/>
                <a:cs typeface="Tahoma"/>
              </a:rPr>
              <a:t>elettrica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cuore;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standard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clinico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050" spc="-25" dirty="0">
                <a:latin typeface="Arial"/>
                <a:cs typeface="Arial"/>
              </a:rPr>
              <a:t>12 </a:t>
            </a:r>
            <a:r>
              <a:rPr sz="1050" spc="-10" dirty="0">
                <a:latin typeface="Arial"/>
                <a:cs typeface="Arial"/>
              </a:rPr>
              <a:t>derivazioni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76530" marR="304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vasta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quantita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dati</a:t>
            </a:r>
            <a:r>
              <a:rPr sz="1100" spc="-35" dirty="0">
                <a:latin typeface="Tahoma"/>
                <a:cs typeface="Tahoma"/>
              </a:rPr>
              <a:t> diagnostici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storici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esiste 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solo</a:t>
            </a:r>
            <a:r>
              <a:rPr sz="1100" spc="-3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8CA0"/>
                </a:solidFill>
                <a:latin typeface="Tahoma"/>
                <a:cs typeface="Tahoma"/>
              </a:rPr>
              <a:t>su</a:t>
            </a:r>
            <a:r>
              <a:rPr sz="1100" spc="-3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carta</a:t>
            </a:r>
            <a:r>
              <a:rPr sz="1100" spc="-3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scansioni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analogiche.</a:t>
            </a:r>
            <a:endParaRPr sz="1100">
              <a:latin typeface="Tahoma"/>
              <a:cs typeface="Tahoma"/>
            </a:endParaRPr>
          </a:p>
          <a:p>
            <a:pPr marL="176530" marR="76835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>
                <a:latin typeface="Tahoma"/>
                <a:cs typeface="Tahoma"/>
              </a:rPr>
              <a:t>La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conversione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automatica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carta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Meiryo UI"/>
                <a:cs typeface="Meiryo UI"/>
              </a:rPr>
              <a:t>→</a:t>
            </a:r>
            <a:r>
              <a:rPr sz="1100" i="1" spc="-45" dirty="0">
                <a:latin typeface="Meiryo UI"/>
                <a:cs typeface="Meiryo UI"/>
              </a:rPr>
              <a:t> </a:t>
            </a:r>
            <a:r>
              <a:rPr sz="1100" spc="-10" dirty="0">
                <a:latin typeface="Tahoma"/>
                <a:cs typeface="Tahoma"/>
              </a:rPr>
              <a:t>segnale </a:t>
            </a:r>
            <a:r>
              <a:rPr sz="1100" spc="-55" dirty="0">
                <a:latin typeface="Tahoma"/>
                <a:cs typeface="Tahoma"/>
              </a:rPr>
              <a:t>numerico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essenziale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</a:t>
            </a:r>
            <a:r>
              <a:rPr sz="1100" spc="-20" dirty="0">
                <a:latin typeface="Tahoma"/>
                <a:cs typeface="Tahoma"/>
              </a:rPr>
              <a:t> l'analisi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computazionale </a:t>
            </a:r>
            <a:r>
              <a:rPr sz="1100" spc="-45" dirty="0">
                <a:latin typeface="Tahoma"/>
                <a:cs typeface="Tahoma"/>
              </a:rPr>
              <a:t>su</a:t>
            </a:r>
            <a:r>
              <a:rPr sz="1100" spc="-40" dirty="0">
                <a:latin typeface="Tahoma"/>
                <a:cs typeface="Tahoma"/>
              </a:rPr>
              <a:t> larga </a:t>
            </a:r>
            <a:r>
              <a:rPr sz="1100" spc="-10" dirty="0">
                <a:latin typeface="Tahoma"/>
                <a:cs typeface="Tahoma"/>
              </a:rPr>
              <a:t>scala.</a:t>
            </a:r>
            <a:endParaRPr sz="1100">
              <a:latin typeface="Tahoma"/>
              <a:cs typeface="Tahoma"/>
            </a:endParaRPr>
          </a:p>
          <a:p>
            <a:pPr marL="176530" marR="128905" indent="-139065" algn="just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SzPct val="104761"/>
              <a:buFont typeface="Meiryo UI"/>
              <a:buChar char="•"/>
              <a:tabLst>
                <a:tab pos="176530" algn="l"/>
              </a:tabLst>
            </a:pPr>
            <a:r>
              <a:rPr sz="1050" dirty="0">
                <a:latin typeface="Arial"/>
                <a:cs typeface="Arial"/>
              </a:rPr>
              <a:t>Ostacolo</a:t>
            </a:r>
            <a:r>
              <a:rPr sz="1050" spc="18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principale:</a:t>
            </a:r>
            <a:r>
              <a:rPr sz="1050" spc="27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mancano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annotati </a:t>
            </a:r>
            <a:r>
              <a:rPr sz="1100" spc="-35" dirty="0">
                <a:latin typeface="Tahoma"/>
                <a:cs typeface="Tahoma"/>
              </a:rPr>
              <a:t>con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variabilita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</a:t>
            </a:r>
            <a:r>
              <a:rPr sz="1100" spc="-40" dirty="0">
                <a:latin typeface="Tahoma"/>
                <a:cs typeface="Tahoma"/>
              </a:rPr>
              <a:t> imperfezioni </a:t>
            </a:r>
            <a:r>
              <a:rPr sz="1100" spc="-35" dirty="0">
                <a:latin typeface="Tahoma"/>
                <a:cs typeface="Tahoma"/>
              </a:rPr>
              <a:t>dei </a:t>
            </a:r>
            <a:r>
              <a:rPr sz="1100" spc="-20" dirty="0">
                <a:latin typeface="Tahoma"/>
                <a:cs typeface="Tahoma"/>
              </a:rPr>
              <a:t>documenti </a:t>
            </a:r>
            <a:r>
              <a:rPr sz="1100" spc="-45" dirty="0">
                <a:latin typeface="Tahoma"/>
                <a:cs typeface="Tahoma"/>
              </a:rPr>
              <a:t>ospedalieri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reali.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4928" y="702487"/>
            <a:ext cx="2302535" cy="17792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52723" y="2538958"/>
            <a:ext cx="23272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Georgia"/>
                <a:cs typeface="Georgia"/>
              </a:rPr>
              <a:t>Referto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ECG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su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carta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millimetrata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(12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derivazioni).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7728" y="3137167"/>
            <a:ext cx="233679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sz="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Lavori</a:t>
            </a:r>
            <a:r>
              <a:rPr spc="35" dirty="0"/>
              <a:t> </a:t>
            </a:r>
            <a:r>
              <a:rPr dirty="0"/>
              <a:t>correlati:</a:t>
            </a:r>
            <a:r>
              <a:rPr spc="145" dirty="0"/>
              <a:t> </a:t>
            </a:r>
            <a:r>
              <a:rPr dirty="0"/>
              <a:t>un</a:t>
            </a:r>
            <a:r>
              <a:rPr spc="35" dirty="0"/>
              <a:t> </a:t>
            </a:r>
            <a:r>
              <a:rPr dirty="0"/>
              <a:t>gap</a:t>
            </a:r>
            <a:r>
              <a:rPr spc="35" dirty="0"/>
              <a:t> </a:t>
            </a:r>
            <a:r>
              <a:rPr spc="-10" dirty="0"/>
              <a:t>aperto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88" y="575601"/>
            <a:ext cx="5274310" cy="13589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6530" marR="201295" indent="-139065">
              <a:lnSpc>
                <a:spcPts val="1200"/>
              </a:lnSpc>
              <a:spcBef>
                <a:spcPts val="229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>
                <a:latin typeface="Tahoma"/>
                <a:cs typeface="Tahoma"/>
              </a:rPr>
              <a:t>La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digitalizzazione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degli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35" dirty="0">
                <a:latin typeface="Tahoma"/>
                <a:cs typeface="Tahoma"/>
              </a:rPr>
              <a:t> cartacei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gia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stata</a:t>
            </a:r>
            <a:r>
              <a:rPr sz="1100" spc="-35" dirty="0">
                <a:latin typeface="Tahoma"/>
                <a:cs typeface="Tahoma"/>
              </a:rPr>
              <a:t> affrontata,</a:t>
            </a:r>
            <a:r>
              <a:rPr sz="1100" spc="-30" dirty="0">
                <a:latin typeface="Tahoma"/>
                <a:cs typeface="Tahoma"/>
              </a:rPr>
              <a:t> ma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gli</a:t>
            </a:r>
            <a:r>
              <a:rPr sz="1100" spc="-35" dirty="0">
                <a:latin typeface="Tahoma"/>
                <a:cs typeface="Tahoma"/>
              </a:rPr>
              <a:t> approcci </a:t>
            </a:r>
            <a:r>
              <a:rPr sz="1100" spc="-25" dirty="0">
                <a:latin typeface="Tahoma"/>
                <a:cs typeface="Tahoma"/>
              </a:rPr>
              <a:t>esistenti </a:t>
            </a:r>
            <a:r>
              <a:rPr sz="1100" spc="-60" dirty="0">
                <a:latin typeface="Tahoma"/>
                <a:cs typeface="Tahoma"/>
              </a:rPr>
              <a:t>presentano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limiti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operativi:</a:t>
            </a:r>
            <a:endParaRPr sz="1100">
              <a:latin typeface="Tahoma"/>
              <a:cs typeface="Tahoma"/>
            </a:endParaRPr>
          </a:p>
          <a:p>
            <a:pPr marL="452120" lvl="1" indent="-131445">
              <a:lnSpc>
                <a:spcPts val="1200"/>
              </a:lnSpc>
              <a:spcBef>
                <a:spcPts val="150"/>
              </a:spcBef>
              <a:buClr>
                <a:srgbClr val="003F72"/>
              </a:buClr>
              <a:buFont typeface="Meiryo UI"/>
              <a:buChar char="•"/>
              <a:tabLst>
                <a:tab pos="452120" algn="l"/>
              </a:tabLst>
            </a:pPr>
            <a:r>
              <a:rPr sz="1000" dirty="0">
                <a:latin typeface="Times New Roman"/>
                <a:cs typeface="Times New Roman"/>
              </a:rPr>
              <a:t>modelli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codice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8CA0"/>
                </a:solidFill>
                <a:latin typeface="Times New Roman"/>
                <a:cs typeface="Times New Roman"/>
              </a:rPr>
              <a:t>non</a:t>
            </a:r>
            <a:r>
              <a:rPr sz="1000" spc="75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8CA0"/>
                </a:solidFill>
                <a:latin typeface="Times New Roman"/>
                <a:cs typeface="Times New Roman"/>
              </a:rPr>
              <a:t>funzionante</a:t>
            </a:r>
            <a:r>
              <a:rPr sz="1000" spc="75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non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riproducibile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(ECGtizer,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Li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al.,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Wu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et</a:t>
            </a:r>
            <a:r>
              <a:rPr sz="1000" spc="7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al.);</a:t>
            </a:r>
            <a:endParaRPr sz="1000">
              <a:latin typeface="Times New Roman"/>
              <a:cs typeface="Times New Roman"/>
            </a:endParaRPr>
          </a:p>
          <a:p>
            <a:pPr marL="452120" marR="30480" lvl="1" indent="-131445">
              <a:lnSpc>
                <a:spcPts val="1200"/>
              </a:lnSpc>
              <a:spcBef>
                <a:spcPts val="40"/>
              </a:spcBef>
              <a:buClr>
                <a:srgbClr val="003F72"/>
              </a:buClr>
              <a:buFont typeface="Meiryo UI"/>
              <a:buChar char="•"/>
              <a:tabLst>
                <a:tab pos="453390" algn="l"/>
              </a:tabLst>
            </a:pPr>
            <a:r>
              <a:rPr sz="1000" dirty="0">
                <a:latin typeface="Times New Roman"/>
                <a:cs typeface="Times New Roman"/>
              </a:rPr>
              <a:t>strumenti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8CA0"/>
                </a:solidFill>
                <a:latin typeface="Times New Roman"/>
                <a:cs typeface="Times New Roman"/>
              </a:rPr>
              <a:t>instabili</a:t>
            </a:r>
            <a:r>
              <a:rPr sz="1000" spc="85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su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tracciati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rumorosi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legati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processi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manuali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(ECGMiner,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Fortune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et 	</a:t>
            </a:r>
            <a:r>
              <a:rPr sz="1000" spc="-20" dirty="0">
                <a:latin typeface="Times New Roman"/>
                <a:cs typeface="Times New Roman"/>
              </a:rPr>
              <a:t>al.);</a:t>
            </a:r>
            <a:endParaRPr sz="1000">
              <a:latin typeface="Times New Roman"/>
              <a:cs typeface="Times New Roman"/>
            </a:endParaRPr>
          </a:p>
          <a:p>
            <a:pPr marL="452120" lvl="1" indent="-131445">
              <a:lnSpc>
                <a:spcPts val="1150"/>
              </a:lnSpc>
              <a:buClr>
                <a:srgbClr val="003F72"/>
              </a:buClr>
              <a:buFont typeface="Meiryo UI"/>
              <a:buChar char="•"/>
              <a:tabLst>
                <a:tab pos="452120" algn="l"/>
              </a:tabLst>
            </a:pPr>
            <a:r>
              <a:rPr sz="1000" spc="-10" dirty="0">
                <a:latin typeface="Times New Roman"/>
                <a:cs typeface="Times New Roman"/>
              </a:rPr>
              <a:t>soluzioni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8CA0"/>
                </a:solidFill>
                <a:latin typeface="Times New Roman"/>
                <a:cs typeface="Times New Roman"/>
              </a:rPr>
              <a:t>a</a:t>
            </a:r>
            <a:r>
              <a:rPr sz="1000" spc="95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8CA0"/>
                </a:solidFill>
                <a:latin typeface="Times New Roman"/>
                <a:cs typeface="Times New Roman"/>
              </a:rPr>
              <a:t>pagamento</a:t>
            </a:r>
            <a:r>
              <a:rPr sz="1000" spc="90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o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senza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codice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pubblicato.</a:t>
            </a:r>
            <a:endParaRPr sz="1000">
              <a:latin typeface="Times New Roman"/>
              <a:cs typeface="Times New Roman"/>
            </a:endParaRPr>
          </a:p>
          <a:p>
            <a:pPr marL="176530" marR="244475" indent="-139065">
              <a:lnSpc>
                <a:spcPct val="102699"/>
              </a:lnSpc>
              <a:spcBef>
                <a:spcPts val="315"/>
              </a:spcBef>
              <a:buClr>
                <a:srgbClr val="003F72"/>
              </a:buClr>
              <a:buSzPct val="104761"/>
              <a:buFont typeface="Meiryo UI"/>
              <a:buChar char="•"/>
              <a:tabLst>
                <a:tab pos="176530" algn="l"/>
              </a:tabLst>
            </a:pPr>
            <a:r>
              <a:rPr sz="1050" dirty="0">
                <a:latin typeface="Arial"/>
                <a:cs typeface="Arial"/>
              </a:rPr>
              <a:t>ECG-Image-</a:t>
            </a:r>
            <a:r>
              <a:rPr sz="1050" spc="50" dirty="0">
                <a:latin typeface="Arial"/>
                <a:cs typeface="Arial"/>
              </a:rPr>
              <a:t>Kit</a:t>
            </a:r>
            <a:r>
              <a:rPr sz="1100" spc="50" dirty="0">
                <a:latin typeface="Tahoma"/>
                <a:cs typeface="Tahoma"/>
              </a:rPr>
              <a:t>: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toolbox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open-</a:t>
            </a:r>
            <a:r>
              <a:rPr sz="1100" spc="-60" dirty="0">
                <a:latin typeface="Tahoma"/>
                <a:cs typeface="Tahoma"/>
              </a:rPr>
              <a:t>source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</a:t>
            </a:r>
            <a:r>
              <a:rPr sz="1100" dirty="0">
                <a:latin typeface="Tahoma"/>
                <a:cs typeface="Tahoma"/>
              </a:rPr>
              <a:t> la </a:t>
            </a:r>
            <a:r>
              <a:rPr sz="1100" spc="-60" dirty="0">
                <a:latin typeface="Tahoma"/>
                <a:cs typeface="Tahoma"/>
              </a:rPr>
              <a:t>generazione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sintetica,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produce </a:t>
            </a:r>
            <a:r>
              <a:rPr sz="1100" spc="-35" dirty="0">
                <a:latin typeface="Tahoma"/>
                <a:cs typeface="Tahoma"/>
              </a:rPr>
              <a:t>immagini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suicientemente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8CA0"/>
                </a:solidFill>
                <a:latin typeface="Tahoma"/>
                <a:cs typeface="Tahoma"/>
              </a:rPr>
              <a:t>degradate</a:t>
            </a:r>
            <a:r>
              <a:rPr sz="1100" spc="-3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simulare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condizioni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reali.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2131707"/>
            <a:ext cx="5584825" cy="203835"/>
          </a:xfrm>
          <a:custGeom>
            <a:avLst/>
            <a:gdLst/>
            <a:ahLst/>
            <a:cxnLst/>
            <a:rect l="l" t="t" r="r" b="b"/>
            <a:pathLst>
              <a:path w="5584825" h="20383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605"/>
                </a:lnTo>
                <a:lnTo>
                  <a:pt x="5584580" y="203605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8544" y="2166159"/>
            <a:ext cx="1697989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Contributo</a:t>
            </a:r>
            <a:r>
              <a:rPr sz="1200" spc="7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di</a:t>
            </a:r>
            <a:r>
              <a:rPr sz="1200" spc="7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questo</a:t>
            </a:r>
            <a:r>
              <a:rPr sz="1200" spc="80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35" dirty="0">
                <a:solidFill>
                  <a:srgbClr val="003F72"/>
                </a:solidFill>
                <a:latin typeface="Times New Roman"/>
                <a:cs typeface="Times New Roman"/>
              </a:rPr>
              <a:t>lavoro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544" y="2341981"/>
            <a:ext cx="5584825" cy="3644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31369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pipeline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generazione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piu</a:t>
            </a:r>
            <a:r>
              <a:rPr sz="1100" spc="-25" dirty="0">
                <a:latin typeface="Tahoma"/>
                <a:cs typeface="Tahoma"/>
              </a:rPr>
              <a:t> controllata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un </a:t>
            </a:r>
            <a:r>
              <a:rPr sz="1100" spc="-60" dirty="0">
                <a:latin typeface="Tahoma"/>
                <a:cs typeface="Tahoma"/>
              </a:rPr>
              <a:t>segmentatore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addestrato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speciicamente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 </a:t>
            </a:r>
            <a:r>
              <a:rPr sz="1100" spc="-35" dirty="0">
                <a:latin typeface="Tahoma"/>
                <a:cs typeface="Tahoma"/>
              </a:rPr>
              <a:t>immagini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 </a:t>
            </a:r>
            <a:r>
              <a:rPr sz="1100" spc="-20" dirty="0">
                <a:latin typeface="Tahoma"/>
                <a:cs typeface="Tahoma"/>
              </a:rPr>
              <a:t>artefatti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realistici.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12" name="object 12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5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Obiettivo:</a:t>
            </a:r>
            <a:r>
              <a:rPr spc="170" dirty="0"/>
              <a:t> </a:t>
            </a:r>
            <a:r>
              <a:rPr dirty="0"/>
              <a:t>una</a:t>
            </a:r>
            <a:r>
              <a:rPr spc="55" dirty="0"/>
              <a:t> </a:t>
            </a:r>
            <a:r>
              <a:rPr spc="-10" dirty="0"/>
              <a:t>pipeline</a:t>
            </a:r>
            <a:r>
              <a:rPr spc="5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due</a:t>
            </a:r>
            <a:r>
              <a:rPr spc="55" dirty="0"/>
              <a:t> </a:t>
            </a:r>
            <a:r>
              <a:rPr spc="-20" dirty="0"/>
              <a:t>stadi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776198"/>
            <a:ext cx="2679065" cy="193675"/>
          </a:xfrm>
          <a:custGeom>
            <a:avLst/>
            <a:gdLst/>
            <a:ahLst/>
            <a:cxnLst/>
            <a:rect l="l" t="t" r="r" b="b"/>
            <a:pathLst>
              <a:path w="2679065" h="193675">
                <a:moveTo>
                  <a:pt x="262780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2678607" y="193069"/>
                </a:lnTo>
                <a:lnTo>
                  <a:pt x="2678607" y="50800"/>
                </a:lnTo>
                <a:lnTo>
                  <a:pt x="2674599" y="31075"/>
                </a:lnTo>
                <a:lnTo>
                  <a:pt x="2663685" y="14922"/>
                </a:lnTo>
                <a:lnTo>
                  <a:pt x="2647532" y="4008"/>
                </a:lnTo>
                <a:lnTo>
                  <a:pt x="2627807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810662"/>
            <a:ext cx="1932939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Stadio</a:t>
            </a:r>
            <a:r>
              <a:rPr sz="1200" spc="70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1:</a:t>
            </a:r>
            <a:r>
              <a:rPr sz="1200" spc="19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3F72"/>
                </a:solidFill>
                <a:latin typeface="Times New Roman"/>
                <a:cs typeface="Times New Roman"/>
              </a:rPr>
              <a:t>Generazione</a:t>
            </a:r>
            <a:r>
              <a:rPr sz="1200" spc="7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sintetica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833129"/>
            <a:ext cx="2679065" cy="9728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R="93980" algn="just">
              <a:lnSpc>
                <a:spcPct val="102600"/>
              </a:lnSpc>
              <a:spcBef>
                <a:spcPts val="1180"/>
              </a:spcBef>
            </a:pPr>
            <a:r>
              <a:rPr sz="1100" spc="-10" dirty="0">
                <a:latin typeface="Tahoma"/>
                <a:cs typeface="Tahoma"/>
              </a:rPr>
              <a:t>Dai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segnali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digitali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immagini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ECG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realisti-</a:t>
            </a:r>
            <a:r>
              <a:rPr sz="1100" spc="-65" dirty="0">
                <a:latin typeface="Tahoma"/>
                <a:cs typeface="Tahoma"/>
              </a:rPr>
              <a:t>che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8CA0"/>
                </a:solidFill>
                <a:latin typeface="Tahoma"/>
                <a:cs typeface="Tahoma"/>
              </a:rPr>
              <a:t>degradate</a:t>
            </a:r>
            <a:r>
              <a:rPr sz="1100" spc="-6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050" spc="25" dirty="0">
                <a:latin typeface="Arial"/>
                <a:cs typeface="Arial"/>
              </a:rPr>
              <a:t>ground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truth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20" dirty="0">
                <a:latin typeface="Arial"/>
                <a:cs typeface="Arial"/>
              </a:rPr>
              <a:t>intrinse-</a:t>
            </a:r>
            <a:r>
              <a:rPr sz="1050" spc="-5" dirty="0">
                <a:latin typeface="Arial"/>
                <a:cs typeface="Arial"/>
              </a:rPr>
              <a:t>ca</a:t>
            </a:r>
            <a:r>
              <a:rPr sz="1050" spc="11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(la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maschera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del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tracciato),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senza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alcuna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annotazione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manuale.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3681" y="776198"/>
            <a:ext cx="2679065" cy="203835"/>
          </a:xfrm>
          <a:custGeom>
            <a:avLst/>
            <a:gdLst/>
            <a:ahLst/>
            <a:cxnLst/>
            <a:rect l="l" t="t" r="r" b="b"/>
            <a:pathLst>
              <a:path w="2679065" h="203834">
                <a:moveTo>
                  <a:pt x="262780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605"/>
                </a:lnTo>
                <a:lnTo>
                  <a:pt x="2678607" y="203605"/>
                </a:lnTo>
                <a:lnTo>
                  <a:pt x="2678607" y="50800"/>
                </a:lnTo>
                <a:lnTo>
                  <a:pt x="2674599" y="31075"/>
                </a:lnTo>
                <a:lnTo>
                  <a:pt x="2663685" y="14922"/>
                </a:lnTo>
                <a:lnTo>
                  <a:pt x="2647532" y="4008"/>
                </a:lnTo>
                <a:lnTo>
                  <a:pt x="2627807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44482" y="810662"/>
            <a:ext cx="22117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Stadio</a:t>
            </a:r>
            <a:r>
              <a:rPr sz="1200" spc="40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2:</a:t>
            </a:r>
            <a:r>
              <a:rPr sz="1200" spc="160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Segmentazione</a:t>
            </a:r>
            <a:r>
              <a:rPr sz="1200" spc="4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semantica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4482" y="833134"/>
            <a:ext cx="267906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it-IT" sz="1100" dirty="0">
              <a:latin typeface="Times New Roman"/>
              <a:cs typeface="Times New Roman"/>
            </a:endParaRPr>
          </a:p>
          <a:p>
            <a:pPr marR="93980" algn="just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U-</a:t>
            </a:r>
            <a:r>
              <a:rPr sz="1100" dirty="0">
                <a:latin typeface="Tahoma"/>
                <a:cs typeface="Tahoma"/>
              </a:rPr>
              <a:t>Net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8CA0"/>
                </a:solidFill>
                <a:latin typeface="Tahoma"/>
                <a:cs typeface="Tahoma"/>
              </a:rPr>
              <a:t>isola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8CA0"/>
                </a:solidFill>
                <a:latin typeface="Tahoma"/>
                <a:cs typeface="Tahoma"/>
              </a:rPr>
              <a:t>il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8CA0"/>
                </a:solidFill>
                <a:latin typeface="Tahoma"/>
                <a:cs typeface="Tahoma"/>
              </a:rPr>
              <a:t>tracciato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se-</a:t>
            </a:r>
            <a:r>
              <a:rPr sz="1100" spc="-10" dirty="0">
                <a:latin typeface="Tahoma"/>
                <a:cs typeface="Tahoma"/>
              </a:rPr>
              <a:t>gnale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griglia,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sfondo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artefatti,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genera-</a:t>
            </a:r>
            <a:r>
              <a:rPr sz="1100" spc="-30" dirty="0">
                <a:latin typeface="Tahoma"/>
                <a:cs typeface="Tahoma"/>
              </a:rPr>
              <a:t>lizzando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anche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documenti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degradati </a:t>
            </a:r>
            <a:r>
              <a:rPr sz="1100" spc="-10" dirty="0">
                <a:latin typeface="Tahoma"/>
                <a:cs typeface="Tahoma"/>
              </a:rPr>
              <a:t>reali.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1555" y="2022589"/>
            <a:ext cx="845819" cy="18605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70"/>
              </a:spcBef>
            </a:pPr>
            <a:r>
              <a:rPr sz="900" spc="-20" dirty="0">
                <a:latin typeface="Georgia"/>
                <a:cs typeface="Georgia"/>
              </a:rPr>
              <a:t>Segnale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digitale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5684" y="2019079"/>
            <a:ext cx="1428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→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6956" y="2022589"/>
            <a:ext cx="568960" cy="18605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70"/>
              </a:spcBef>
            </a:pPr>
            <a:r>
              <a:rPr sz="900" spc="-10" dirty="0">
                <a:latin typeface="Georgia"/>
                <a:cs typeface="Georgia"/>
              </a:rPr>
              <a:t>Rendering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4301" y="2019079"/>
            <a:ext cx="1428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→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25573" y="2022589"/>
            <a:ext cx="497840" cy="16383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70"/>
              </a:spcBef>
            </a:pPr>
            <a:r>
              <a:rPr sz="900" spc="-10" dirty="0">
                <a:latin typeface="Georgia"/>
                <a:cs typeface="Georgia"/>
              </a:rPr>
              <a:t>Artefatti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52191" y="2019079"/>
            <a:ext cx="1428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→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3463" y="2022957"/>
            <a:ext cx="1207135" cy="18542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65"/>
              </a:spcBef>
            </a:pPr>
            <a:r>
              <a:rPr sz="900" spc="-10" dirty="0">
                <a:latin typeface="Georgia"/>
                <a:cs typeface="Georgia"/>
              </a:rPr>
              <a:t>lmmagine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160" dirty="0">
                <a:latin typeface="Georgia"/>
                <a:cs typeface="Georgia"/>
              </a:rPr>
              <a:t>+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maschera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59110" y="2019079"/>
            <a:ext cx="1428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→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30369" y="2026094"/>
            <a:ext cx="818515" cy="18224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40"/>
              </a:spcBef>
            </a:pPr>
            <a:r>
              <a:rPr sz="900" spc="-30" dirty="0">
                <a:latin typeface="Georgia"/>
                <a:cs typeface="Georgia"/>
              </a:rPr>
              <a:t>Training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45" dirty="0">
                <a:latin typeface="Georgia"/>
                <a:cs typeface="Georgia"/>
              </a:rPr>
              <a:t>U-</a:t>
            </a:r>
            <a:r>
              <a:rPr sz="900" spc="-25" dirty="0">
                <a:latin typeface="Georgia"/>
                <a:cs typeface="Georgia"/>
              </a:rPr>
              <a:t>Net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8936" y="2522862"/>
            <a:ext cx="36823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spc="10" dirty="0">
                <a:latin typeface="Times New Roman"/>
                <a:cs typeface="Times New Roman"/>
              </a:rPr>
              <a:t>La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conversione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finale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maschera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900" i="1" spc="10" dirty="0">
                <a:latin typeface="Arial"/>
                <a:cs typeface="Arial"/>
              </a:rPr>
              <a:t>→</a:t>
            </a:r>
            <a:r>
              <a:rPr sz="900" i="1" spc="155" dirty="0">
                <a:latin typeface="Arial"/>
                <a:cs typeface="Arial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segnale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numerico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e</a:t>
            </a:r>
            <a:r>
              <a:rPr sz="850" spc="195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uno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10" dirty="0">
                <a:latin typeface="Times New Roman"/>
                <a:cs typeface="Times New Roman"/>
              </a:rPr>
              <a:t>sviluppo</a:t>
            </a:r>
            <a:r>
              <a:rPr sz="850" spc="190" dirty="0">
                <a:latin typeface="Times New Roman"/>
                <a:cs typeface="Times New Roman"/>
              </a:rPr>
              <a:t> </a:t>
            </a:r>
            <a:r>
              <a:rPr sz="850" spc="-10" dirty="0">
                <a:latin typeface="Times New Roman"/>
                <a:cs typeface="Times New Roman"/>
              </a:rPr>
              <a:t>futuro.</a:t>
            </a:r>
            <a:endParaRPr sz="85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28" name="object 28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2550">
              <a:lnSpc>
                <a:spcPts val="665"/>
              </a:lnSpc>
            </a:pPr>
            <a:fld id="{81D60167-4931-47E6-BA6A-407CBD079E47}" type="slidenum">
              <a:rPr spc="-35" dirty="0"/>
              <a:t>6</a:t>
            </a:fld>
            <a:r>
              <a:rPr spc="-55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7804" y="1379639"/>
            <a:ext cx="2284730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Stadio</a:t>
            </a:r>
            <a:r>
              <a:rPr sz="1150" spc="29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1:</a:t>
            </a:r>
            <a:r>
              <a:rPr sz="1150" spc="9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Generazione</a:t>
            </a:r>
            <a:r>
              <a:rPr sz="1150" spc="29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spc="4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Sintetica</a:t>
            </a:r>
            <a:endParaRPr sz="11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Dal</a:t>
            </a:r>
            <a:r>
              <a:rPr spc="-5" dirty="0"/>
              <a:t> </a:t>
            </a:r>
            <a:r>
              <a:rPr dirty="0"/>
              <a:t>segnale </a:t>
            </a:r>
            <a:r>
              <a:rPr spc="-10" dirty="0"/>
              <a:t>all'immagine:</a:t>
            </a:r>
            <a:r>
              <a:rPr spc="95" dirty="0"/>
              <a:t> </a:t>
            </a:r>
            <a:r>
              <a:rPr dirty="0"/>
              <a:t>rendering </a:t>
            </a:r>
            <a:r>
              <a:rPr spc="-10" dirty="0"/>
              <a:t>calibrato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76530" marR="198120" indent="-139065">
              <a:lnSpc>
                <a:spcPts val="1200"/>
              </a:lnSpc>
              <a:spcBef>
                <a:spcPts val="229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50" dirty="0"/>
              <a:t>Rendering</a:t>
            </a:r>
            <a:r>
              <a:rPr sz="1100" spc="-40" dirty="0"/>
              <a:t> </a:t>
            </a:r>
            <a:r>
              <a:rPr sz="1100" spc="-35" dirty="0"/>
              <a:t>vettoriale </a:t>
            </a:r>
            <a:r>
              <a:rPr sz="1100" spc="-25" dirty="0"/>
              <a:t>con</a:t>
            </a:r>
            <a:r>
              <a:rPr sz="1100" spc="-35" dirty="0"/>
              <a:t> </a:t>
            </a:r>
            <a:r>
              <a:rPr sz="950" spc="60" dirty="0">
                <a:latin typeface="SimSun"/>
                <a:cs typeface="SimSun"/>
              </a:rPr>
              <a:t>Matplotlib</a:t>
            </a:r>
            <a:r>
              <a:rPr sz="1100" spc="60" dirty="0"/>
              <a:t>, </a:t>
            </a:r>
            <a:r>
              <a:rPr sz="1100" spc="-30" dirty="0"/>
              <a:t>calibrato </a:t>
            </a:r>
            <a:r>
              <a:rPr sz="1100" spc="-25" dirty="0"/>
              <a:t>sulla carta </a:t>
            </a:r>
            <a:r>
              <a:rPr sz="1100" spc="-30" dirty="0"/>
              <a:t>millimetrata</a:t>
            </a:r>
            <a:r>
              <a:rPr sz="1100" spc="-25" dirty="0"/>
              <a:t> clinica:</a:t>
            </a:r>
            <a:endParaRPr sz="1100">
              <a:latin typeface="SimSun"/>
              <a:cs typeface="SimSun"/>
            </a:endParaRPr>
          </a:p>
          <a:p>
            <a:pPr marL="452120" lvl="1" indent="-131445">
              <a:lnSpc>
                <a:spcPct val="100000"/>
              </a:lnSpc>
              <a:spcBef>
                <a:spcPts val="150"/>
              </a:spcBef>
              <a:buClr>
                <a:srgbClr val="003F72"/>
              </a:buClr>
              <a:buSzPct val="111111"/>
              <a:buFont typeface="Meiryo UI"/>
              <a:buChar char="•"/>
              <a:tabLst>
                <a:tab pos="452120" algn="l"/>
              </a:tabLst>
            </a:pPr>
            <a:r>
              <a:rPr sz="900" spc="-10" dirty="0">
                <a:latin typeface="Georgia"/>
                <a:cs typeface="Georgia"/>
              </a:rPr>
              <a:t>asse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i="1" spc="-25" dirty="0">
                <a:latin typeface="Myriad Pro SemiExt"/>
                <a:cs typeface="Myriad Pro SemiExt"/>
              </a:rPr>
              <a:t>x</a:t>
            </a:r>
            <a:r>
              <a:rPr sz="900" i="1" spc="-95" dirty="0">
                <a:latin typeface="Myriad Pro SemiExt"/>
                <a:cs typeface="Myriad Pro SemiExt"/>
              </a:rPr>
              <a:t> </a:t>
            </a:r>
            <a:r>
              <a:rPr sz="900" dirty="0">
                <a:latin typeface="Georgia"/>
                <a:cs typeface="Georgia"/>
              </a:rPr>
              <a:t>:</a:t>
            </a:r>
            <a:r>
              <a:rPr sz="900" spc="14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5</a:t>
            </a:r>
            <a:r>
              <a:rPr sz="900" spc="-6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mm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60" dirty="0">
                <a:latin typeface="Lucida Sans Unicode"/>
                <a:cs typeface="Lucida Sans Unicode"/>
              </a:rPr>
              <a:t> </a:t>
            </a:r>
            <a:r>
              <a:rPr sz="900" spc="-50" dirty="0">
                <a:latin typeface="Georgia"/>
                <a:cs typeface="Georgia"/>
              </a:rPr>
              <a:t>0</a:t>
            </a:r>
            <a:r>
              <a:rPr sz="900" i="1" spc="-50" dirty="0">
                <a:latin typeface="Arial"/>
                <a:cs typeface="Arial"/>
              </a:rPr>
              <a:t>.</a:t>
            </a:r>
            <a:r>
              <a:rPr sz="900" spc="-50" dirty="0">
                <a:latin typeface="Georgia"/>
                <a:cs typeface="Georgia"/>
              </a:rPr>
              <a:t>2</a:t>
            </a:r>
            <a:r>
              <a:rPr sz="900" spc="-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(25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mm/s)</a:t>
            </a:r>
            <a:endParaRPr sz="900">
              <a:latin typeface="Georgia"/>
              <a:cs typeface="Georgia"/>
            </a:endParaRPr>
          </a:p>
          <a:p>
            <a:pPr marL="453390" lvl="1" indent="-127635">
              <a:lnSpc>
                <a:spcPct val="100000"/>
              </a:lnSpc>
              <a:spcBef>
                <a:spcPts val="15"/>
              </a:spcBef>
              <a:buClr>
                <a:srgbClr val="003F72"/>
              </a:buClr>
              <a:buFont typeface="Arial"/>
              <a:buChar char="•"/>
              <a:tabLst>
                <a:tab pos="453390" algn="l"/>
              </a:tabLst>
            </a:pPr>
            <a:r>
              <a:rPr sz="900" spc="-10" dirty="0">
                <a:latin typeface="Georgia"/>
                <a:cs typeface="Georgia"/>
              </a:rPr>
              <a:t>asse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i="1" spc="-10" dirty="0">
                <a:latin typeface="Myriad Pro SemiExt"/>
                <a:cs typeface="Myriad Pro SemiExt"/>
              </a:rPr>
              <a:t>y</a:t>
            </a:r>
            <a:r>
              <a:rPr sz="900" i="1" spc="-80" dirty="0">
                <a:latin typeface="Myriad Pro SemiExt"/>
                <a:cs typeface="Myriad Pro SemiExt"/>
              </a:rPr>
              <a:t> </a:t>
            </a:r>
            <a:r>
              <a:rPr sz="900" dirty="0">
                <a:latin typeface="Georgia"/>
                <a:cs typeface="Georgia"/>
              </a:rPr>
              <a:t>:</a:t>
            </a:r>
            <a:r>
              <a:rPr sz="900" spc="14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5</a:t>
            </a:r>
            <a:r>
              <a:rPr sz="900" spc="-6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mm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55" dirty="0">
                <a:latin typeface="Lucida Sans Unicode"/>
                <a:cs typeface="Lucida Sans Unicode"/>
              </a:rPr>
              <a:t> </a:t>
            </a:r>
            <a:r>
              <a:rPr sz="900" spc="-40" dirty="0">
                <a:latin typeface="Georgia"/>
                <a:cs typeface="Georgia"/>
              </a:rPr>
              <a:t>0</a:t>
            </a:r>
            <a:r>
              <a:rPr sz="900" i="1" spc="-40" dirty="0">
                <a:latin typeface="Arial"/>
                <a:cs typeface="Arial"/>
              </a:rPr>
              <a:t>.</a:t>
            </a:r>
            <a:r>
              <a:rPr sz="900" spc="-40" dirty="0">
                <a:latin typeface="Georgia"/>
                <a:cs typeface="Georgia"/>
              </a:rPr>
              <a:t>5</a:t>
            </a:r>
            <a:r>
              <a:rPr sz="900" spc="-6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mV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(10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mm/mV)</a:t>
            </a:r>
            <a:endParaRPr sz="900">
              <a:latin typeface="Georgia"/>
              <a:cs typeface="Georgia"/>
            </a:endParaRPr>
          </a:p>
          <a:p>
            <a:pPr marL="176530" indent="-138430">
              <a:lnSpc>
                <a:spcPct val="100000"/>
              </a:lnSpc>
              <a:spcBef>
                <a:spcPts val="375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45" dirty="0"/>
              <a:t>Corrispondenza</a:t>
            </a:r>
            <a:r>
              <a:rPr sz="1100" spc="-30" dirty="0"/>
              <a:t> </a:t>
            </a:r>
            <a:r>
              <a:rPr sz="1100" spc="-25" dirty="0">
                <a:solidFill>
                  <a:srgbClr val="008CA0"/>
                </a:solidFill>
              </a:rPr>
              <a:t>millimetrica</a:t>
            </a:r>
            <a:r>
              <a:rPr sz="1100" spc="-30" dirty="0">
                <a:solidFill>
                  <a:srgbClr val="008CA0"/>
                </a:solidFill>
              </a:rPr>
              <a:t> </a:t>
            </a:r>
            <a:r>
              <a:rPr sz="1100" spc="-30" dirty="0"/>
              <a:t>pixel</a:t>
            </a:r>
            <a:r>
              <a:rPr sz="1100" spc="-25" dirty="0"/>
              <a:t> </a:t>
            </a:r>
            <a:r>
              <a:rPr sz="1100" i="1" spc="-50" dirty="0">
                <a:latin typeface="Meiryo UI"/>
                <a:cs typeface="Meiryo UI"/>
              </a:rPr>
              <a:t>↔</a:t>
            </a:r>
            <a:endParaRPr sz="1100">
              <a:latin typeface="Meiryo UI"/>
              <a:cs typeface="Meiryo UI"/>
            </a:endParaRPr>
          </a:p>
          <a:p>
            <a:pPr marL="176530">
              <a:lnSpc>
                <a:spcPct val="100000"/>
              </a:lnSpc>
              <a:spcBef>
                <a:spcPts val="35"/>
              </a:spcBef>
            </a:pPr>
            <a:r>
              <a:rPr spc="-55" dirty="0"/>
              <a:t>grandezze</a:t>
            </a:r>
            <a:r>
              <a:rPr spc="-15" dirty="0"/>
              <a:t> </a:t>
            </a:r>
            <a:r>
              <a:rPr spc="-10" dirty="0"/>
              <a:t>isiche.</a:t>
            </a:r>
          </a:p>
          <a:p>
            <a:pPr marL="176530" marR="304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/>
              <a:t>4</a:t>
            </a:r>
            <a:r>
              <a:rPr sz="1100" spc="-90" dirty="0"/>
              <a:t> </a:t>
            </a:r>
            <a:r>
              <a:rPr sz="1100" spc="-40" dirty="0"/>
              <a:t>layout</a:t>
            </a:r>
            <a:r>
              <a:rPr sz="1100" spc="-45" dirty="0"/>
              <a:t> </a:t>
            </a:r>
            <a:r>
              <a:rPr sz="1100" spc="-10" dirty="0"/>
              <a:t>clinici</a:t>
            </a:r>
            <a:r>
              <a:rPr sz="1100" spc="-80" dirty="0"/>
              <a:t> </a:t>
            </a:r>
            <a:r>
              <a:rPr sz="1100" spc="-50" dirty="0"/>
              <a:t>(12</a:t>
            </a:r>
            <a:r>
              <a:rPr sz="1100" spc="-110" dirty="0"/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40" dirty="0">
                <a:latin typeface="Meiryo UI"/>
                <a:cs typeface="Meiryo UI"/>
              </a:rPr>
              <a:t> </a:t>
            </a:r>
            <a:r>
              <a:rPr sz="1100" dirty="0"/>
              <a:t>1,</a:t>
            </a:r>
            <a:r>
              <a:rPr sz="1100" spc="-70" dirty="0"/>
              <a:t> </a:t>
            </a:r>
            <a:r>
              <a:rPr sz="1100" spc="-60" dirty="0"/>
              <a:t>6</a:t>
            </a:r>
            <a:r>
              <a:rPr sz="1100" spc="-110" dirty="0"/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40" dirty="0">
                <a:latin typeface="Meiryo UI"/>
                <a:cs typeface="Meiryo UI"/>
              </a:rPr>
              <a:t> </a:t>
            </a:r>
            <a:r>
              <a:rPr sz="1100" dirty="0"/>
              <a:t>2,</a:t>
            </a:r>
            <a:r>
              <a:rPr sz="1100" spc="-20" dirty="0"/>
              <a:t> </a:t>
            </a:r>
            <a:r>
              <a:rPr sz="1100" spc="-60" dirty="0"/>
              <a:t>3</a:t>
            </a:r>
            <a:r>
              <a:rPr sz="1100" spc="-110" dirty="0"/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40" dirty="0">
                <a:latin typeface="Meiryo UI"/>
                <a:cs typeface="Meiryo UI"/>
              </a:rPr>
              <a:t> </a:t>
            </a:r>
            <a:r>
              <a:rPr sz="1100" dirty="0"/>
              <a:t>4,</a:t>
            </a:r>
            <a:r>
              <a:rPr sz="1100" spc="-25" dirty="0"/>
              <a:t> </a:t>
            </a:r>
            <a:r>
              <a:rPr sz="1100" spc="-60" dirty="0"/>
              <a:t>6</a:t>
            </a:r>
            <a:r>
              <a:rPr sz="1100" spc="-110" dirty="0"/>
              <a:t> </a:t>
            </a:r>
            <a:r>
              <a:rPr sz="1100" i="1" spc="-50" dirty="0">
                <a:latin typeface="Meiryo UI"/>
                <a:cs typeface="Meiryo UI"/>
              </a:rPr>
              <a:t>×</a:t>
            </a:r>
            <a:r>
              <a:rPr sz="1100" i="1" spc="-140" dirty="0">
                <a:latin typeface="Meiryo UI"/>
                <a:cs typeface="Meiryo UI"/>
              </a:rPr>
              <a:t> </a:t>
            </a:r>
            <a:r>
              <a:rPr sz="1100" spc="-50" dirty="0"/>
              <a:t>1 </a:t>
            </a:r>
            <a:r>
              <a:rPr sz="1100" spc="-10" dirty="0"/>
              <a:t>split)</a:t>
            </a:r>
            <a:r>
              <a:rPr sz="1100" spc="-25" dirty="0"/>
              <a:t> con</a:t>
            </a:r>
            <a:r>
              <a:rPr sz="1100" spc="-20" dirty="0"/>
              <a:t> </a:t>
            </a:r>
            <a:r>
              <a:rPr sz="1100" spc="-60" dirty="0"/>
              <a:t>segmentazione</a:t>
            </a:r>
            <a:r>
              <a:rPr sz="1100" spc="-20" dirty="0"/>
              <a:t> </a:t>
            </a:r>
            <a:r>
              <a:rPr sz="1100" spc="-10" dirty="0"/>
              <a:t>temporale coerente.</a:t>
            </a:r>
            <a:endParaRPr sz="1100">
              <a:latin typeface="Meiryo UI"/>
              <a:cs typeface="Meiryo UI"/>
            </a:endParaRPr>
          </a:p>
          <a:p>
            <a:pPr marL="176530" indent="-138430">
              <a:lnSpc>
                <a:spcPct val="100000"/>
              </a:lnSpc>
              <a:spcBef>
                <a:spcPts val="335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35" dirty="0"/>
              <a:t>Estensioni</a:t>
            </a:r>
            <a:r>
              <a:rPr sz="1100" spc="-45" dirty="0"/>
              <a:t> </a:t>
            </a:r>
            <a:r>
              <a:rPr sz="1100" dirty="0"/>
              <a:t>al</a:t>
            </a:r>
            <a:r>
              <a:rPr sz="1100" spc="-45" dirty="0"/>
              <a:t> </a:t>
            </a:r>
            <a:r>
              <a:rPr sz="1100" spc="-50" dirty="0"/>
              <a:t>rendering:</a:t>
            </a:r>
            <a:r>
              <a:rPr sz="1100" spc="55" dirty="0"/>
              <a:t> </a:t>
            </a:r>
            <a:r>
              <a:rPr sz="1100" spc="-10" dirty="0"/>
              <a:t>supporto</a:t>
            </a:r>
            <a:endParaRPr sz="1100"/>
          </a:p>
          <a:p>
            <a:pPr marL="176530" marR="140970">
              <a:lnSpc>
                <a:spcPct val="102600"/>
              </a:lnSpc>
            </a:pPr>
            <a:r>
              <a:rPr sz="1050" dirty="0">
                <a:latin typeface="Arial"/>
                <a:cs typeface="Arial"/>
              </a:rPr>
              <a:t>CODE-15%</a:t>
            </a:r>
            <a:r>
              <a:rPr sz="1050" spc="180" dirty="0">
                <a:latin typeface="Arial"/>
                <a:cs typeface="Arial"/>
              </a:rPr>
              <a:t> </a:t>
            </a:r>
            <a:r>
              <a:rPr dirty="0"/>
              <a:t>(HDF5),</a:t>
            </a:r>
            <a:r>
              <a:rPr spc="130" dirty="0"/>
              <a:t> </a:t>
            </a:r>
            <a:r>
              <a:rPr spc="-25" dirty="0"/>
              <a:t>conigurazione</a:t>
            </a:r>
            <a:r>
              <a:rPr spc="135" dirty="0"/>
              <a:t> </a:t>
            </a:r>
            <a:r>
              <a:rPr spc="-25" dirty="0"/>
              <a:t>via </a:t>
            </a:r>
            <a:r>
              <a:rPr dirty="0"/>
              <a:t>YAML,</a:t>
            </a:r>
            <a:r>
              <a:rPr spc="65" dirty="0"/>
              <a:t> </a:t>
            </a:r>
            <a:r>
              <a:rPr spc="-55" dirty="0"/>
              <a:t>rendering</a:t>
            </a:r>
            <a:r>
              <a:rPr spc="65" dirty="0"/>
              <a:t> </a:t>
            </a:r>
            <a:r>
              <a:rPr spc="-40" dirty="0">
                <a:solidFill>
                  <a:srgbClr val="008CA0"/>
                </a:solidFill>
              </a:rPr>
              <a:t>in-</a:t>
            </a:r>
            <a:r>
              <a:rPr spc="-10" dirty="0">
                <a:solidFill>
                  <a:srgbClr val="008CA0"/>
                </a:solidFill>
              </a:rPr>
              <a:t>memory</a:t>
            </a:r>
            <a:r>
              <a:rPr spc="-10" dirty="0"/>
              <a:t>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846" y="647318"/>
            <a:ext cx="2522143" cy="19489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47288" y="2653487"/>
            <a:ext cx="2099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Georgia"/>
                <a:cs typeface="Georgia"/>
              </a:rPr>
              <a:t>Tracciato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vettoriale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pulito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su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canvas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calibrato.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7728" y="3137167"/>
            <a:ext cx="233679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8</a:t>
            </a:r>
            <a:r>
              <a:rPr sz="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Il</a:t>
            </a:r>
            <a:r>
              <a:rPr spc="85" dirty="0"/>
              <a:t> </a:t>
            </a:r>
            <a:r>
              <a:rPr sz="1150" dirty="0">
                <a:latin typeface="Bell Centennial Std SubCaption"/>
                <a:cs typeface="Bell Centennial Std SubCaption"/>
              </a:rPr>
              <a:t>domain</a:t>
            </a:r>
            <a:r>
              <a:rPr sz="1150" spc="100" dirty="0">
                <a:latin typeface="Bell Centennial Std SubCaption"/>
                <a:cs typeface="Bell Centennial Std SubCaption"/>
              </a:rPr>
              <a:t> </a:t>
            </a:r>
            <a:r>
              <a:rPr sz="1150" dirty="0">
                <a:latin typeface="Bell Centennial Std SubCaption"/>
                <a:cs typeface="Bell Centennial Std SubCaption"/>
              </a:rPr>
              <a:t>gap</a:t>
            </a:r>
            <a:r>
              <a:rPr dirty="0"/>
              <a:t>:</a:t>
            </a:r>
            <a:r>
              <a:rPr spc="220" dirty="0"/>
              <a:t> </a:t>
            </a:r>
            <a:r>
              <a:rPr dirty="0"/>
              <a:t>artefatti</a:t>
            </a:r>
            <a:r>
              <a:rPr spc="90" dirty="0"/>
              <a:t> </a:t>
            </a:r>
            <a:r>
              <a:rPr spc="-10" dirty="0"/>
              <a:t>realistici</a:t>
            </a:r>
            <a:r>
              <a:rPr spc="85" dirty="0"/>
              <a:t> </a:t>
            </a:r>
            <a:r>
              <a:rPr dirty="0"/>
              <a:t>e</a:t>
            </a:r>
            <a:r>
              <a:rPr spc="90" dirty="0"/>
              <a:t> </a:t>
            </a:r>
            <a:r>
              <a:rPr dirty="0"/>
              <a:t>contributi</a:t>
            </a:r>
            <a:r>
              <a:rPr spc="90" dirty="0"/>
              <a:t> </a:t>
            </a:r>
            <a:r>
              <a:rPr spc="-20" dirty="0"/>
              <a:t>originali</a:t>
            </a:r>
            <a:endParaRPr sz="1150">
              <a:latin typeface="Bell Centennial Std SubCaption"/>
              <a:cs typeface="Bell Centennial Std SubCaptio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667" y="531599"/>
            <a:ext cx="2665730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25" dirty="0">
                <a:latin typeface="Georgia"/>
                <a:cs typeface="Georgia"/>
              </a:rPr>
              <a:t>Modelli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addestrati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su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35" dirty="0">
                <a:latin typeface="Georgia"/>
                <a:cs typeface="Georgia"/>
              </a:rPr>
              <a:t>immagini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008CA0"/>
                </a:solidFill>
                <a:latin typeface="Georgia"/>
                <a:cs typeface="Georgia"/>
              </a:rPr>
              <a:t>pulite</a:t>
            </a:r>
            <a:r>
              <a:rPr sz="900" spc="3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crollano</a:t>
            </a:r>
            <a:r>
              <a:rPr sz="900" spc="3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su</a:t>
            </a:r>
            <a:r>
              <a:rPr sz="900" spc="50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documenti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reali,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pieni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di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difetti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accumulati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nel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ciclo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di</a:t>
            </a:r>
            <a:r>
              <a:rPr sz="900" dirty="0">
                <a:latin typeface="Georgia"/>
                <a:cs typeface="Georgia"/>
              </a:rPr>
              <a:t> vita</a:t>
            </a:r>
            <a:r>
              <a:rPr sz="900" spc="1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del</a:t>
            </a:r>
            <a:r>
              <a:rPr sz="900" spc="1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documento.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566" y="1074190"/>
            <a:ext cx="2843530" cy="193675"/>
          </a:xfrm>
          <a:custGeom>
            <a:avLst/>
            <a:gdLst/>
            <a:ahLst/>
            <a:cxnLst/>
            <a:rect l="l" t="t" r="r" b="b"/>
            <a:pathLst>
              <a:path w="2843530" h="193675">
                <a:moveTo>
                  <a:pt x="279229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2843090" y="193069"/>
                </a:lnTo>
                <a:lnTo>
                  <a:pt x="2843090" y="50800"/>
                </a:lnTo>
                <a:lnTo>
                  <a:pt x="2839082" y="31075"/>
                </a:lnTo>
                <a:lnTo>
                  <a:pt x="2828167" y="14922"/>
                </a:lnTo>
                <a:lnTo>
                  <a:pt x="2812014" y="4008"/>
                </a:lnTo>
                <a:lnTo>
                  <a:pt x="2792290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367" y="1108643"/>
            <a:ext cx="128270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Tre</a:t>
            </a:r>
            <a:r>
              <a:rPr sz="1200" spc="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classi</a:t>
            </a:r>
            <a:r>
              <a:rPr sz="1200" spc="10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3F72"/>
                </a:solidFill>
                <a:latin typeface="Times New Roman"/>
                <a:cs typeface="Times New Roman"/>
              </a:rPr>
              <a:t>di</a:t>
            </a:r>
            <a:r>
              <a:rPr sz="1200" spc="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artefatti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67" y="1229544"/>
            <a:ext cx="2894330" cy="87312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02260" indent="-127635">
              <a:lnSpc>
                <a:spcPct val="100000"/>
              </a:lnSpc>
              <a:spcBef>
                <a:spcPts val="515"/>
              </a:spcBef>
              <a:buClr>
                <a:srgbClr val="003F72"/>
              </a:buClr>
              <a:buFont typeface="Arial"/>
              <a:buChar char="•"/>
              <a:tabLst>
                <a:tab pos="302260" algn="l"/>
              </a:tabLst>
            </a:pPr>
            <a:r>
              <a:rPr sz="900" dirty="0">
                <a:latin typeface="Georgia"/>
                <a:cs typeface="Georgia"/>
              </a:rPr>
              <a:t>Testo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manoscritto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(RNN+MDN,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NLP</a:t>
            </a:r>
            <a:r>
              <a:rPr sz="900" spc="3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biomedico)</a:t>
            </a:r>
            <a:endParaRPr sz="900">
              <a:latin typeface="Georgia"/>
              <a:cs typeface="Georgia"/>
            </a:endParaRPr>
          </a:p>
          <a:p>
            <a:pPr marL="302260" indent="-127635">
              <a:lnSpc>
                <a:spcPct val="100000"/>
              </a:lnSpc>
              <a:spcBef>
                <a:spcPts val="409"/>
              </a:spcBef>
              <a:buClr>
                <a:srgbClr val="003F72"/>
              </a:buClr>
              <a:buFont typeface="Arial"/>
              <a:buChar char="•"/>
              <a:tabLst>
                <a:tab pos="302260" algn="l"/>
              </a:tabLst>
            </a:pPr>
            <a:r>
              <a:rPr sz="900" dirty="0">
                <a:latin typeface="Georgia"/>
                <a:cs typeface="Georgia"/>
              </a:rPr>
              <a:t>Pieghe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rugosita</a:t>
            </a:r>
            <a:r>
              <a:rPr sz="900" spc="5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(image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quilting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135" dirty="0">
                <a:latin typeface="Georgia"/>
                <a:cs typeface="Georgia"/>
              </a:rPr>
              <a:t>+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60" dirty="0">
                <a:latin typeface="Georgia"/>
                <a:cs typeface="Georgia"/>
              </a:rPr>
              <a:t>min-</a:t>
            </a:r>
            <a:r>
              <a:rPr sz="900" spc="-20" dirty="0">
                <a:latin typeface="Georgia"/>
                <a:cs typeface="Georgia"/>
              </a:rPr>
              <a:t>cut)</a:t>
            </a:r>
            <a:endParaRPr sz="900">
              <a:latin typeface="Georgia"/>
              <a:cs typeface="Georgia"/>
            </a:endParaRPr>
          </a:p>
          <a:p>
            <a:pPr marL="302260" marR="129539" indent="-128270">
              <a:lnSpc>
                <a:spcPct val="101499"/>
              </a:lnSpc>
              <a:spcBef>
                <a:spcPts val="400"/>
              </a:spcBef>
              <a:buClr>
                <a:srgbClr val="003F72"/>
              </a:buClr>
              <a:buFont typeface="Arial"/>
              <a:buChar char="•"/>
              <a:tabLst>
                <a:tab pos="302260" algn="l"/>
              </a:tabLst>
            </a:pPr>
            <a:r>
              <a:rPr sz="900" spc="-10" dirty="0">
                <a:latin typeface="Georgia"/>
                <a:cs typeface="Georgia"/>
              </a:rPr>
              <a:t>Degradazione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foto/geometrica:</a:t>
            </a:r>
            <a:r>
              <a:rPr sz="900" spc="9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rotazione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50" dirty="0">
                <a:latin typeface="Georgia"/>
                <a:cs typeface="Georgia"/>
              </a:rPr>
              <a:t>e</a:t>
            </a:r>
            <a:r>
              <a:rPr sz="900" spc="500" dirty="0">
                <a:latin typeface="Georgia"/>
                <a:cs typeface="Georgia"/>
              </a:rPr>
              <a:t> </a:t>
            </a:r>
            <a:r>
              <a:rPr sz="900" spc="-40" dirty="0">
                <a:latin typeface="Georgia"/>
                <a:cs typeface="Georgia"/>
              </a:rPr>
              <a:t>rumore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gaussiano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(base)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135" dirty="0">
                <a:latin typeface="Georgia"/>
                <a:cs typeface="Georgia"/>
              </a:rPr>
              <a:t>+</a:t>
            </a:r>
            <a:r>
              <a:rPr sz="900" spc="40" dirty="0"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008CA0"/>
                </a:solidFill>
                <a:latin typeface="Georgia"/>
                <a:cs typeface="Georgia"/>
              </a:rPr>
              <a:t>blur,</a:t>
            </a:r>
            <a:r>
              <a:rPr sz="900" spc="4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35" dirty="0">
                <a:solidFill>
                  <a:srgbClr val="008CA0"/>
                </a:solidFill>
                <a:latin typeface="Georgia"/>
                <a:cs typeface="Georgia"/>
              </a:rPr>
              <a:t>sale-</a:t>
            </a:r>
            <a:r>
              <a:rPr sz="900" dirty="0">
                <a:solidFill>
                  <a:srgbClr val="008CA0"/>
                </a:solidFill>
                <a:latin typeface="Georgia"/>
                <a:cs typeface="Georgia"/>
              </a:rPr>
              <a:t>pepe,</a:t>
            </a:r>
            <a:r>
              <a:rPr sz="900" spc="45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008CA0"/>
                </a:solidFill>
                <a:latin typeface="Georgia"/>
                <a:cs typeface="Georgia"/>
              </a:rPr>
              <a:t>JPEG,</a:t>
            </a:r>
            <a:r>
              <a:rPr sz="900" spc="50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30" dirty="0">
                <a:solidFill>
                  <a:srgbClr val="008CA0"/>
                </a:solidFill>
                <a:latin typeface="Georgia"/>
                <a:cs typeface="Georgia"/>
              </a:rPr>
              <a:t>luminosita,</a:t>
            </a:r>
            <a:r>
              <a:rPr sz="900" spc="45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008CA0"/>
                </a:solidFill>
                <a:latin typeface="Georgia"/>
                <a:cs typeface="Georgia"/>
              </a:rPr>
              <a:t>dropout</a:t>
            </a:r>
            <a:r>
              <a:rPr sz="900" spc="5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introdotti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667" y="2196543"/>
            <a:ext cx="2713990" cy="5803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25" dirty="0">
                <a:latin typeface="Georgia"/>
                <a:cs typeface="Georgia"/>
              </a:rPr>
              <a:t>Estensioni</a:t>
            </a:r>
            <a:r>
              <a:rPr sz="900" spc="7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introdotte:</a:t>
            </a:r>
            <a:r>
              <a:rPr sz="900" spc="15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dropout</a:t>
            </a:r>
            <a:r>
              <a:rPr sz="900" spc="65" dirty="0">
                <a:latin typeface="Georgia"/>
                <a:cs typeface="Georgia"/>
              </a:rPr>
              <a:t> </a:t>
            </a:r>
            <a:r>
              <a:rPr sz="900" spc="-35" dirty="0">
                <a:solidFill>
                  <a:srgbClr val="008CA0"/>
                </a:solidFill>
                <a:latin typeface="Georgia"/>
                <a:cs typeface="Georgia"/>
              </a:rPr>
              <a:t>differenziale</a:t>
            </a:r>
            <a:r>
              <a:rPr sz="900" spc="7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(tracciato </a:t>
            </a:r>
            <a:r>
              <a:rPr sz="900" dirty="0">
                <a:latin typeface="Georgia"/>
                <a:cs typeface="Georgia"/>
              </a:rPr>
              <a:t>vs</a:t>
            </a:r>
            <a:r>
              <a:rPr sz="900" spc="1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sfondo),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shift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geometrico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per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elemento,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generazione maschera</a:t>
            </a:r>
            <a:r>
              <a:rPr sz="900" spc="1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</a:t>
            </a:r>
            <a:r>
              <a:rPr sz="850" dirty="0">
                <a:latin typeface="Calibri"/>
                <a:cs typeface="Calibri"/>
              </a:rPr>
              <a:t>ground</a:t>
            </a:r>
            <a:r>
              <a:rPr sz="850" spc="175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truth</a:t>
            </a:r>
            <a:r>
              <a:rPr sz="900" dirty="0">
                <a:latin typeface="Georgia"/>
                <a:cs typeface="Georgia"/>
              </a:rPr>
              <a:t>),</a:t>
            </a:r>
            <a:r>
              <a:rPr sz="900" spc="145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bounding</a:t>
            </a:r>
            <a:r>
              <a:rPr sz="900" spc="1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box</a:t>
            </a:r>
            <a:r>
              <a:rPr sz="900" spc="1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orientati, </a:t>
            </a:r>
            <a:r>
              <a:rPr sz="900" spc="-25" dirty="0">
                <a:latin typeface="Georgia"/>
                <a:cs typeface="Georgia"/>
              </a:rPr>
              <a:t>supporto</a:t>
            </a:r>
            <a:r>
              <a:rPr sz="900" spc="6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CODE-15%.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3156" y="575957"/>
            <a:ext cx="1117879" cy="86381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2825" y="575957"/>
            <a:ext cx="1117879" cy="86381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261499" y="1497012"/>
            <a:ext cx="8013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Georgia"/>
                <a:cs typeface="Georgia"/>
              </a:rPr>
              <a:t>Pieghe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</a:t>
            </a:r>
            <a:r>
              <a:rPr sz="800" spc="6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rugosita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3541" y="1497012"/>
            <a:ext cx="836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dirty="0">
                <a:latin typeface="Georgia"/>
                <a:cs typeface="Georgia"/>
              </a:rPr>
              <a:t>Testo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manoscritto</a:t>
            </a:r>
            <a:endParaRPr sz="8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8077" y="1699539"/>
            <a:ext cx="1257579" cy="9717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480968" y="2728556"/>
            <a:ext cx="163195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Georgia"/>
                <a:cs typeface="Georgia"/>
              </a:rPr>
              <a:t>Configurazione</a:t>
            </a:r>
            <a:r>
              <a:rPr sz="800" spc="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completa</a:t>
            </a:r>
            <a:r>
              <a:rPr sz="800" spc="1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combinata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0" y="3125216"/>
            <a:ext cx="1728470" cy="114935"/>
          </a:xfrm>
          <a:custGeom>
            <a:avLst/>
            <a:gdLst/>
            <a:ahLst/>
            <a:cxnLst/>
            <a:rect l="l" t="t" r="r" b="b"/>
            <a:pathLst>
              <a:path w="1728470" h="114935">
                <a:moveTo>
                  <a:pt x="1728012" y="0"/>
                </a:moveTo>
                <a:lnTo>
                  <a:pt x="0" y="0"/>
                </a:lnTo>
                <a:lnTo>
                  <a:pt x="0" y="114782"/>
                </a:lnTo>
                <a:lnTo>
                  <a:pt x="1728012" y="114782"/>
                </a:lnTo>
                <a:lnTo>
                  <a:pt x="1728012" y="0"/>
                </a:lnTo>
                <a:close/>
              </a:path>
            </a:pathLst>
          </a:custGeom>
          <a:solidFill>
            <a:srgbClr val="4C78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033" y="3118188"/>
            <a:ext cx="511175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28012" y="3125216"/>
            <a:ext cx="3168015" cy="114935"/>
          </a:xfrm>
          <a:prstGeom prst="rect">
            <a:avLst/>
          </a:prstGeom>
          <a:solidFill>
            <a:srgbClr val="265B87"/>
          </a:solidFill>
        </p:spPr>
        <p:txBody>
          <a:bodyPr vert="horz" wrap="square" lIns="0" tIns="444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35"/>
              </a:spcBef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96040" y="3125216"/>
            <a:ext cx="864235" cy="114935"/>
          </a:xfrm>
          <a:custGeom>
            <a:avLst/>
            <a:gdLst/>
            <a:ahLst/>
            <a:cxnLst/>
            <a:rect l="l" t="t" r="r" b="b"/>
            <a:pathLst>
              <a:path w="864235" h="114935">
                <a:moveTo>
                  <a:pt x="863968" y="0"/>
                </a:moveTo>
                <a:lnTo>
                  <a:pt x="0" y="0"/>
                </a:lnTo>
                <a:lnTo>
                  <a:pt x="0" y="114782"/>
                </a:lnTo>
                <a:lnTo>
                  <a:pt x="863968" y="114782"/>
                </a:lnTo>
                <a:lnTo>
                  <a:pt x="863968" y="0"/>
                </a:lnTo>
                <a:close/>
              </a:path>
            </a:pathLst>
          </a:custGeom>
          <a:solidFill>
            <a:srgbClr val="00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97728" y="3118188"/>
            <a:ext cx="233679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Coppia</a:t>
            </a:r>
            <a:r>
              <a:rPr spc="60" dirty="0"/>
              <a:t> </a:t>
            </a:r>
            <a:r>
              <a:rPr spc="-10" dirty="0"/>
              <a:t>immagine</a:t>
            </a:r>
            <a:r>
              <a:rPr spc="65" dirty="0"/>
              <a:t> </a:t>
            </a:r>
            <a:r>
              <a:rPr spc="245" dirty="0"/>
              <a:t>/</a:t>
            </a:r>
            <a:r>
              <a:rPr spc="65" dirty="0"/>
              <a:t> </a:t>
            </a:r>
            <a:r>
              <a:rPr dirty="0"/>
              <a:t>maschera:</a:t>
            </a:r>
            <a:r>
              <a:rPr spc="185" dirty="0"/>
              <a:t> </a:t>
            </a:r>
            <a:r>
              <a:rPr dirty="0"/>
              <a:t>ground</a:t>
            </a:r>
            <a:r>
              <a:rPr spc="65" dirty="0"/>
              <a:t> </a:t>
            </a:r>
            <a:r>
              <a:rPr dirty="0"/>
              <a:t>truth</a:t>
            </a:r>
            <a:r>
              <a:rPr spc="65" dirty="0"/>
              <a:t> </a:t>
            </a:r>
            <a:r>
              <a:rPr spc="-10" dirty="0"/>
              <a:t>gratuita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891" y="372198"/>
            <a:ext cx="2422398" cy="18718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6417" y="2301290"/>
            <a:ext cx="4767580" cy="652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5"/>
              </a:spcBef>
              <a:tabLst>
                <a:tab pos="3073400" algn="l"/>
              </a:tabLst>
            </a:pPr>
            <a:r>
              <a:rPr sz="800" spc="-20" dirty="0">
                <a:latin typeface="Georgia"/>
                <a:cs typeface="Georgia"/>
              </a:rPr>
              <a:t>Immagine</a:t>
            </a:r>
            <a:r>
              <a:rPr sz="800" spc="1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sintetica</a:t>
            </a:r>
            <a:r>
              <a:rPr sz="800" spc="2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(input</a:t>
            </a:r>
            <a:r>
              <a:rPr sz="800" spc="2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del</a:t>
            </a:r>
            <a:r>
              <a:rPr sz="800" spc="2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modello)</a:t>
            </a:r>
            <a:r>
              <a:rPr sz="800" dirty="0">
                <a:latin typeface="Georgia"/>
                <a:cs typeface="Georgia"/>
              </a:rPr>
              <a:t>	</a:t>
            </a:r>
            <a:r>
              <a:rPr sz="800" spc="-10" dirty="0">
                <a:latin typeface="Georgia"/>
                <a:cs typeface="Georgia"/>
              </a:rPr>
              <a:t>Maschera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binaria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(ground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truth)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00">
              <a:latin typeface="Georgia"/>
              <a:cs typeface="Georgia"/>
            </a:endParaRPr>
          </a:p>
          <a:p>
            <a:pPr marL="1967230" marR="5080" indent="-1955164">
              <a:lnSpc>
                <a:spcPct val="102699"/>
              </a:lnSpc>
            </a:pPr>
            <a:r>
              <a:rPr sz="1100" dirty="0">
                <a:latin typeface="Tahoma"/>
                <a:cs typeface="Tahoma"/>
              </a:rPr>
              <a:t>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stesse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trasformazioni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geometriche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sono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applicate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entrambe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Meiryo UI"/>
                <a:cs typeface="Meiryo UI"/>
              </a:rPr>
              <a:t>⇒</a:t>
            </a:r>
            <a:r>
              <a:rPr sz="1100" i="1" spc="-45" dirty="0">
                <a:latin typeface="Meiryo UI"/>
                <a:cs typeface="Meiryo UI"/>
              </a:rPr>
              <a:t> </a:t>
            </a:r>
            <a:r>
              <a:rPr sz="1100" spc="-40" dirty="0">
                <a:latin typeface="Tahoma"/>
                <a:cs typeface="Tahoma"/>
              </a:rPr>
              <a:t>corrispondenza </a:t>
            </a:r>
            <a:r>
              <a:rPr sz="1100" spc="-50" dirty="0">
                <a:solidFill>
                  <a:srgbClr val="008CA0"/>
                </a:solidFill>
                <a:latin typeface="Tahoma"/>
                <a:cs typeface="Tahoma"/>
              </a:rPr>
              <a:t>pixel-</a:t>
            </a:r>
            <a:r>
              <a:rPr sz="1100" spc="-60" dirty="0">
                <a:solidFill>
                  <a:srgbClr val="008CA0"/>
                </a:solidFill>
                <a:latin typeface="Tahoma"/>
                <a:cs typeface="Tahoma"/>
              </a:rPr>
              <a:t>per-</a:t>
            </a:r>
            <a:r>
              <a:rPr sz="1100" spc="-10" dirty="0">
                <a:solidFill>
                  <a:srgbClr val="008CA0"/>
                </a:solidFill>
                <a:latin typeface="Tahoma"/>
                <a:cs typeface="Tahoma"/>
              </a:rPr>
              <a:t>pixel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5706" y="372198"/>
            <a:ext cx="2422398" cy="18718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10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Risultati</a:t>
            </a:r>
            <a:r>
              <a:rPr spc="60" dirty="0"/>
              <a:t> </a:t>
            </a:r>
            <a:r>
              <a:rPr dirty="0"/>
              <a:t>Stadio</a:t>
            </a:r>
            <a:r>
              <a:rPr spc="60" dirty="0"/>
              <a:t> </a:t>
            </a:r>
            <a:r>
              <a:rPr dirty="0"/>
              <a:t>1:</a:t>
            </a:r>
            <a:r>
              <a:rPr spc="180" dirty="0"/>
              <a:t> </a:t>
            </a:r>
            <a:r>
              <a:rPr spc="-25" dirty="0"/>
              <a:t>parallelizzazione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811" y="548970"/>
            <a:ext cx="2459990" cy="240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6530" marR="243204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25" dirty="0">
                <a:latin typeface="Tahoma"/>
                <a:cs typeface="Tahoma"/>
              </a:rPr>
              <a:t>Carico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008CA0"/>
                </a:solidFill>
                <a:latin typeface="Times New Roman"/>
                <a:cs typeface="Times New Roman"/>
              </a:rPr>
              <a:t>embarrassingly</a:t>
            </a:r>
            <a:r>
              <a:rPr sz="1050" spc="100" dirty="0">
                <a:solidFill>
                  <a:srgbClr val="008CA0"/>
                </a:solidFill>
                <a:latin typeface="Times New Roman"/>
                <a:cs typeface="Times New Roman"/>
              </a:rPr>
              <a:t> </a:t>
            </a:r>
            <a:r>
              <a:rPr sz="1050" dirty="0">
                <a:solidFill>
                  <a:srgbClr val="008CA0"/>
                </a:solidFill>
                <a:latin typeface="Times New Roman"/>
                <a:cs typeface="Times New Roman"/>
              </a:rPr>
              <a:t>parallel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ogni </a:t>
            </a:r>
            <a:r>
              <a:rPr sz="1100" dirty="0">
                <a:latin typeface="Tahoma"/>
                <a:cs typeface="Tahoma"/>
              </a:rPr>
              <a:t>ECG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indipendente.</a:t>
            </a:r>
            <a:endParaRPr sz="1100">
              <a:latin typeface="Tahoma"/>
              <a:cs typeface="Tahoma"/>
            </a:endParaRPr>
          </a:p>
          <a:p>
            <a:pPr marL="176530" marR="304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SzPct val="115789"/>
              <a:buFont typeface="Meiryo UI"/>
              <a:buChar char="•"/>
              <a:tabLst>
                <a:tab pos="176530" algn="l"/>
              </a:tabLst>
            </a:pPr>
            <a:r>
              <a:rPr sz="950" spc="80" dirty="0">
                <a:latin typeface="SimSun"/>
                <a:cs typeface="SimSun"/>
              </a:rPr>
              <a:t>ProcessPoolExecutor</a:t>
            </a:r>
            <a:r>
              <a:rPr sz="950" spc="-140" dirty="0">
                <a:latin typeface="SimSun"/>
                <a:cs typeface="SimSun"/>
              </a:rPr>
              <a:t> </a:t>
            </a:r>
            <a:r>
              <a:rPr sz="1100" spc="-55" dirty="0">
                <a:latin typeface="Tahoma"/>
                <a:cs typeface="Tahoma"/>
              </a:rPr>
              <a:t>aggira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GIL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 </a:t>
            </a:r>
            <a:r>
              <a:rPr sz="1100" spc="-10" dirty="0">
                <a:latin typeface="Tahoma"/>
                <a:cs typeface="Tahoma"/>
              </a:rPr>
              <a:t>Python</a:t>
            </a:r>
            <a:r>
              <a:rPr sz="1100" spc="-40" dirty="0">
                <a:latin typeface="Tahoma"/>
                <a:cs typeface="Tahoma"/>
              </a:rPr>
              <a:t> (vero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parallelismo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multi-</a:t>
            </a:r>
            <a:r>
              <a:rPr sz="1100" spc="-10" dirty="0">
                <a:latin typeface="Tahoma"/>
                <a:cs typeface="Tahoma"/>
              </a:rPr>
              <a:t>core).</a:t>
            </a:r>
            <a:endParaRPr sz="1100">
              <a:latin typeface="Tahoma"/>
              <a:cs typeface="Tahoma"/>
            </a:endParaRPr>
          </a:p>
          <a:p>
            <a:pPr marL="176530" marR="15494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55" dirty="0">
                <a:latin typeface="Tahoma"/>
                <a:cs typeface="Tahoma"/>
              </a:rPr>
              <a:t>Speedup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massimo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</a:t>
            </a:r>
            <a:r>
              <a:rPr sz="1100" i="1" spc="-45" dirty="0">
                <a:latin typeface="Georgia"/>
                <a:cs typeface="Georgia"/>
              </a:rPr>
              <a:t>.</a:t>
            </a:r>
            <a:r>
              <a:rPr sz="1100" spc="-45" dirty="0">
                <a:latin typeface="Tahoma"/>
                <a:cs typeface="Tahoma"/>
              </a:rPr>
              <a:t>03</a:t>
            </a:r>
            <a:r>
              <a:rPr sz="1100" i="1" spc="-45" dirty="0">
                <a:latin typeface="Meiryo UI"/>
                <a:cs typeface="Meiryo UI"/>
              </a:rPr>
              <a:t>×</a:t>
            </a:r>
            <a:r>
              <a:rPr sz="1100" i="1" spc="-40" dirty="0">
                <a:latin typeface="Meiryo UI"/>
                <a:cs typeface="Meiryo UI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8</a:t>
            </a:r>
            <a:r>
              <a:rPr sz="1050" spc="8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worker </a:t>
            </a:r>
            <a:r>
              <a:rPr sz="1100" dirty="0">
                <a:latin typeface="Tahoma"/>
                <a:cs typeface="Tahoma"/>
              </a:rPr>
              <a:t>(=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core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isici).</a:t>
            </a:r>
            <a:endParaRPr sz="1100">
              <a:latin typeface="Tahoma"/>
              <a:cs typeface="Tahoma"/>
            </a:endParaRPr>
          </a:p>
          <a:p>
            <a:pPr marL="176530" marR="215265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>
                <a:latin typeface="Tahoma"/>
                <a:cs typeface="Tahoma"/>
              </a:rPr>
              <a:t>Oltre</a:t>
            </a:r>
            <a:r>
              <a:rPr sz="1100" spc="-45" dirty="0">
                <a:latin typeface="Tahoma"/>
                <a:cs typeface="Tahoma"/>
              </a:rPr>
              <a:t> non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scala: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carico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8CA0"/>
                </a:solidFill>
                <a:latin typeface="Tahoma"/>
                <a:cs typeface="Tahoma"/>
              </a:rPr>
              <a:t>CPU-</a:t>
            </a:r>
            <a:r>
              <a:rPr sz="1100" spc="-45" dirty="0">
                <a:solidFill>
                  <a:srgbClr val="008CA0"/>
                </a:solidFill>
                <a:latin typeface="Tahoma"/>
                <a:cs typeface="Tahoma"/>
              </a:rPr>
              <a:t>bound</a:t>
            </a:r>
            <a:r>
              <a:rPr sz="1100" spc="-45" dirty="0">
                <a:latin typeface="Tahoma"/>
                <a:cs typeface="Tahoma"/>
              </a:rPr>
              <a:t>, non</a:t>
            </a:r>
            <a:r>
              <a:rPr sz="1100" spc="-10" dirty="0">
                <a:latin typeface="Tahoma"/>
                <a:cs typeface="Tahoma"/>
              </a:rPr>
              <a:t> I/O-</a:t>
            </a:r>
            <a:r>
              <a:rPr sz="1100" spc="-50" dirty="0">
                <a:latin typeface="Tahoma"/>
                <a:cs typeface="Tahoma"/>
              </a:rPr>
              <a:t>bound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Meiryo UI"/>
                <a:cs typeface="Meiryo UI"/>
              </a:rPr>
              <a:t>⇒</a:t>
            </a:r>
            <a:r>
              <a:rPr sz="1100" i="1" spc="-40" dirty="0">
                <a:latin typeface="Meiryo UI"/>
                <a:cs typeface="Meiryo UI"/>
              </a:rPr>
              <a:t> </a:t>
            </a:r>
            <a:r>
              <a:rPr sz="1100" spc="-25" dirty="0">
                <a:latin typeface="Tahoma"/>
                <a:cs typeface="Tahoma"/>
              </a:rPr>
              <a:t>l'hyperthreading </a:t>
            </a:r>
            <a:r>
              <a:rPr sz="1100" spc="-45" dirty="0">
                <a:latin typeface="Tahoma"/>
                <a:cs typeface="Tahoma"/>
              </a:rPr>
              <a:t>non </a:t>
            </a:r>
            <a:r>
              <a:rPr sz="1100" spc="-20" dirty="0">
                <a:latin typeface="Tahoma"/>
                <a:cs typeface="Tahoma"/>
              </a:rPr>
              <a:t>aiuta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(piu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banda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memoria satura).</a:t>
            </a:r>
            <a:endParaRPr sz="1100">
              <a:latin typeface="Tahoma"/>
              <a:cs typeface="Tahoma"/>
            </a:endParaRPr>
          </a:p>
          <a:p>
            <a:pPr marL="176530" marR="125095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>
                <a:latin typeface="Tahoma"/>
                <a:cs typeface="Tahoma"/>
              </a:rPr>
              <a:t>Su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PTB-</a:t>
            </a:r>
            <a:r>
              <a:rPr sz="1100" spc="50" dirty="0">
                <a:latin typeface="Tahoma"/>
                <a:cs typeface="Tahoma"/>
              </a:rPr>
              <a:t>XL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(&gt;21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000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record)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tempi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generazione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riducono drasticamente.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80507" y="588121"/>
            <a:ext cx="2396490" cy="1308100"/>
            <a:chOff x="3180507" y="588121"/>
            <a:chExt cx="2396490" cy="1308100"/>
          </a:xfrm>
        </p:grpSpPr>
        <p:sp>
          <p:nvSpPr>
            <p:cNvPr id="5" name="object 5"/>
            <p:cNvSpPr/>
            <p:nvPr/>
          </p:nvSpPr>
          <p:spPr>
            <a:xfrm>
              <a:off x="3382340" y="590661"/>
              <a:ext cx="930275" cy="1303020"/>
            </a:xfrm>
            <a:custGeom>
              <a:avLst/>
              <a:gdLst/>
              <a:ahLst/>
              <a:cxnLst/>
              <a:rect l="l" t="t" r="r" b="b"/>
              <a:pathLst>
                <a:path w="930275" h="1303020">
                  <a:moveTo>
                    <a:pt x="0" y="1302603"/>
                  </a:moveTo>
                  <a:lnTo>
                    <a:pt x="0" y="0"/>
                  </a:lnTo>
                </a:path>
                <a:path w="930275" h="1303020">
                  <a:moveTo>
                    <a:pt x="132853" y="1302603"/>
                  </a:moveTo>
                  <a:lnTo>
                    <a:pt x="132853" y="0"/>
                  </a:lnTo>
                </a:path>
                <a:path w="930275" h="1303020">
                  <a:moveTo>
                    <a:pt x="398561" y="1302603"/>
                  </a:moveTo>
                  <a:lnTo>
                    <a:pt x="398561" y="0"/>
                  </a:lnTo>
                </a:path>
                <a:path w="930275" h="1303020">
                  <a:moveTo>
                    <a:pt x="929977" y="1302603"/>
                  </a:moveTo>
                  <a:lnTo>
                    <a:pt x="929977" y="0"/>
                  </a:lnTo>
                </a:path>
              </a:pathLst>
            </a:custGeom>
            <a:ln w="5060">
              <a:solidFill>
                <a:srgbClr val="E5E5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75148" y="590661"/>
              <a:ext cx="0" cy="1303020"/>
            </a:xfrm>
            <a:custGeom>
              <a:avLst/>
              <a:gdLst/>
              <a:ahLst/>
              <a:cxnLst/>
              <a:rect l="l" t="t" r="r" b="b"/>
              <a:pathLst>
                <a:path h="1303020">
                  <a:moveTo>
                    <a:pt x="0" y="1260996"/>
                  </a:moveTo>
                  <a:lnTo>
                    <a:pt x="0" y="1302603"/>
                  </a:lnTo>
                </a:path>
                <a:path h="1303020">
                  <a:moveTo>
                    <a:pt x="0" y="0"/>
                  </a:moveTo>
                  <a:lnTo>
                    <a:pt x="0" y="923802"/>
                  </a:lnTo>
                </a:path>
              </a:pathLst>
            </a:custGeom>
            <a:ln w="5060">
              <a:solidFill>
                <a:srgbClr val="E5E5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83047" y="1893265"/>
              <a:ext cx="2391410" cy="0"/>
            </a:xfrm>
            <a:custGeom>
              <a:avLst/>
              <a:gdLst/>
              <a:ahLst/>
              <a:cxnLst/>
              <a:rect l="l" t="t" r="r" b="b"/>
              <a:pathLst>
                <a:path w="2391410">
                  <a:moveTo>
                    <a:pt x="0" y="0"/>
                  </a:moveTo>
                  <a:lnTo>
                    <a:pt x="2391394" y="0"/>
                  </a:lnTo>
                </a:path>
              </a:pathLst>
            </a:custGeom>
            <a:ln w="5060">
              <a:solidFill>
                <a:srgbClr val="E5E5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3047" y="1583121"/>
              <a:ext cx="2391410" cy="0"/>
            </a:xfrm>
            <a:custGeom>
              <a:avLst/>
              <a:gdLst/>
              <a:ahLst/>
              <a:cxnLst/>
              <a:rect l="l" t="t" r="r" b="b"/>
              <a:pathLst>
                <a:path w="2391410">
                  <a:moveTo>
                    <a:pt x="0" y="0"/>
                  </a:moveTo>
                  <a:lnTo>
                    <a:pt x="1338665" y="0"/>
                  </a:lnTo>
                </a:path>
                <a:path w="2391410">
                  <a:moveTo>
                    <a:pt x="2317124" y="0"/>
                  </a:moveTo>
                  <a:lnTo>
                    <a:pt x="2391394" y="0"/>
                  </a:lnTo>
                </a:path>
              </a:pathLst>
            </a:custGeom>
            <a:ln w="5060">
              <a:solidFill>
                <a:srgbClr val="E5E5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83047" y="652690"/>
              <a:ext cx="2391410" cy="620395"/>
            </a:xfrm>
            <a:custGeom>
              <a:avLst/>
              <a:gdLst/>
              <a:ahLst/>
              <a:cxnLst/>
              <a:rect l="l" t="t" r="r" b="b"/>
              <a:pathLst>
                <a:path w="2391410" h="620394">
                  <a:moveTo>
                    <a:pt x="0" y="620287"/>
                  </a:moveTo>
                  <a:lnTo>
                    <a:pt x="2391394" y="620287"/>
                  </a:lnTo>
                </a:path>
                <a:path w="2391410" h="620394">
                  <a:moveTo>
                    <a:pt x="0" y="310143"/>
                  </a:moveTo>
                  <a:lnTo>
                    <a:pt x="2391394" y="310143"/>
                  </a:lnTo>
                </a:path>
                <a:path w="2391410" h="620394">
                  <a:moveTo>
                    <a:pt x="0" y="0"/>
                  </a:moveTo>
                  <a:lnTo>
                    <a:pt x="2391394" y="0"/>
                  </a:lnTo>
                </a:path>
              </a:pathLst>
            </a:custGeom>
            <a:ln w="5060">
              <a:solidFill>
                <a:srgbClr val="E5E5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82340" y="1839263"/>
              <a:ext cx="930275" cy="54610"/>
            </a:xfrm>
            <a:custGeom>
              <a:avLst/>
              <a:gdLst/>
              <a:ahLst/>
              <a:cxnLst/>
              <a:rect l="l" t="t" r="r" b="b"/>
              <a:pathLst>
                <a:path w="930275" h="54610">
                  <a:moveTo>
                    <a:pt x="0" y="54001"/>
                  </a:moveTo>
                  <a:lnTo>
                    <a:pt x="0" y="0"/>
                  </a:lnTo>
                </a:path>
                <a:path w="930275" h="54610">
                  <a:moveTo>
                    <a:pt x="132853" y="54001"/>
                  </a:moveTo>
                  <a:lnTo>
                    <a:pt x="132853" y="0"/>
                  </a:lnTo>
                </a:path>
                <a:path w="930275" h="54610">
                  <a:moveTo>
                    <a:pt x="398561" y="54001"/>
                  </a:moveTo>
                  <a:lnTo>
                    <a:pt x="398561" y="0"/>
                  </a:lnTo>
                </a:path>
                <a:path w="930275" h="54610">
                  <a:moveTo>
                    <a:pt x="929977" y="54001"/>
                  </a:moveTo>
                  <a:lnTo>
                    <a:pt x="929977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75148" y="1851658"/>
              <a:ext cx="0" cy="41910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606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3047" y="590661"/>
              <a:ext cx="2391410" cy="1303020"/>
            </a:xfrm>
            <a:custGeom>
              <a:avLst/>
              <a:gdLst/>
              <a:ahLst/>
              <a:cxnLst/>
              <a:rect l="l" t="t" r="r" b="b"/>
              <a:pathLst>
                <a:path w="2391410" h="1303020">
                  <a:moveTo>
                    <a:pt x="199292" y="0"/>
                  </a:moveTo>
                  <a:lnTo>
                    <a:pt x="199292" y="54001"/>
                  </a:lnTo>
                </a:path>
                <a:path w="2391410" h="1303020">
                  <a:moveTo>
                    <a:pt x="332146" y="0"/>
                  </a:moveTo>
                  <a:lnTo>
                    <a:pt x="332146" y="54001"/>
                  </a:lnTo>
                </a:path>
                <a:path w="2391410" h="1303020">
                  <a:moveTo>
                    <a:pt x="597854" y="0"/>
                  </a:moveTo>
                  <a:lnTo>
                    <a:pt x="597854" y="54001"/>
                  </a:lnTo>
                </a:path>
                <a:path w="2391410" h="1303020">
                  <a:moveTo>
                    <a:pt x="1129270" y="0"/>
                  </a:moveTo>
                  <a:lnTo>
                    <a:pt x="1129270" y="54001"/>
                  </a:lnTo>
                </a:path>
                <a:path w="2391410" h="1303020">
                  <a:moveTo>
                    <a:pt x="2192101" y="0"/>
                  </a:moveTo>
                  <a:lnTo>
                    <a:pt x="2192101" y="54001"/>
                  </a:lnTo>
                </a:path>
                <a:path w="2391410" h="1303020">
                  <a:moveTo>
                    <a:pt x="0" y="1302603"/>
                  </a:moveTo>
                  <a:lnTo>
                    <a:pt x="54007" y="1302603"/>
                  </a:lnTo>
                </a:path>
                <a:path w="2391410" h="1303020">
                  <a:moveTo>
                    <a:pt x="0" y="992459"/>
                  </a:moveTo>
                  <a:lnTo>
                    <a:pt x="54007" y="992459"/>
                  </a:lnTo>
                </a:path>
                <a:path w="2391410" h="1303020">
                  <a:moveTo>
                    <a:pt x="0" y="682316"/>
                  </a:moveTo>
                  <a:lnTo>
                    <a:pt x="54007" y="682316"/>
                  </a:lnTo>
                </a:path>
                <a:path w="2391410" h="1303020">
                  <a:moveTo>
                    <a:pt x="0" y="372172"/>
                  </a:moveTo>
                  <a:lnTo>
                    <a:pt x="54007" y="372172"/>
                  </a:lnTo>
                </a:path>
                <a:path w="2391410" h="1303020">
                  <a:moveTo>
                    <a:pt x="0" y="62028"/>
                  </a:moveTo>
                  <a:lnTo>
                    <a:pt x="54007" y="62028"/>
                  </a:lnTo>
                </a:path>
                <a:path w="2391410" h="1303020">
                  <a:moveTo>
                    <a:pt x="2391394" y="1302603"/>
                  </a:moveTo>
                  <a:lnTo>
                    <a:pt x="2337387" y="1302603"/>
                  </a:lnTo>
                </a:path>
                <a:path w="2391410" h="1303020">
                  <a:moveTo>
                    <a:pt x="2391394" y="992459"/>
                  </a:moveTo>
                  <a:lnTo>
                    <a:pt x="2337387" y="992459"/>
                  </a:lnTo>
                </a:path>
                <a:path w="2391410" h="1303020">
                  <a:moveTo>
                    <a:pt x="2391394" y="682316"/>
                  </a:moveTo>
                  <a:lnTo>
                    <a:pt x="2337387" y="682316"/>
                  </a:lnTo>
                </a:path>
                <a:path w="2391410" h="1303020">
                  <a:moveTo>
                    <a:pt x="2391394" y="372172"/>
                  </a:moveTo>
                  <a:lnTo>
                    <a:pt x="2337387" y="372172"/>
                  </a:lnTo>
                </a:path>
                <a:path w="2391410" h="1303020">
                  <a:moveTo>
                    <a:pt x="2391394" y="62028"/>
                  </a:moveTo>
                  <a:lnTo>
                    <a:pt x="2337387" y="62028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83047" y="590661"/>
              <a:ext cx="2391410" cy="1303020"/>
            </a:xfrm>
            <a:custGeom>
              <a:avLst/>
              <a:gdLst/>
              <a:ahLst/>
              <a:cxnLst/>
              <a:rect l="l" t="t" r="r" b="b"/>
              <a:pathLst>
                <a:path w="2391410" h="1303020">
                  <a:moveTo>
                    <a:pt x="0" y="1302603"/>
                  </a:moveTo>
                  <a:lnTo>
                    <a:pt x="0" y="0"/>
                  </a:lnTo>
                  <a:lnTo>
                    <a:pt x="2391394" y="0"/>
                  </a:lnTo>
                  <a:lnTo>
                    <a:pt x="2391394" y="1302603"/>
                  </a:lnTo>
                  <a:lnTo>
                    <a:pt x="0" y="130260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35223" y="1881377"/>
            <a:ext cx="49339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0845" algn="l"/>
              </a:tabLst>
            </a:pPr>
            <a:r>
              <a:rPr sz="1100" dirty="0">
                <a:latin typeface="Tahoma"/>
                <a:cs typeface="Tahoma"/>
              </a:rPr>
              <a:t>1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93601" y="1881377"/>
            <a:ext cx="16319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latin typeface="Tahoma"/>
                <a:cs typeface="Tahoma"/>
              </a:rPr>
              <a:t>16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3105" y="1787423"/>
            <a:ext cx="946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53105" y="1477289"/>
            <a:ext cx="946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53105" y="1167142"/>
            <a:ext cx="946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53105" y="857008"/>
            <a:ext cx="946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53105" y="546861"/>
            <a:ext cx="946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51954" y="588121"/>
            <a:ext cx="2053589" cy="1025525"/>
            <a:chOff x="3351954" y="588121"/>
            <a:chExt cx="2053589" cy="1025525"/>
          </a:xfrm>
        </p:grpSpPr>
        <p:sp>
          <p:nvSpPr>
            <p:cNvPr id="22" name="object 22"/>
            <p:cNvSpPr/>
            <p:nvPr/>
          </p:nvSpPr>
          <p:spPr>
            <a:xfrm>
              <a:off x="3382340" y="953529"/>
              <a:ext cx="1993264" cy="629920"/>
            </a:xfrm>
            <a:custGeom>
              <a:avLst/>
              <a:gdLst/>
              <a:ahLst/>
              <a:cxnLst/>
              <a:rect l="l" t="t" r="r" b="b"/>
              <a:pathLst>
                <a:path w="1993264" h="629919">
                  <a:moveTo>
                    <a:pt x="0" y="629591"/>
                  </a:moveTo>
                  <a:lnTo>
                    <a:pt x="132853" y="390781"/>
                  </a:lnTo>
                  <a:lnTo>
                    <a:pt x="398561" y="89941"/>
                  </a:lnTo>
                  <a:lnTo>
                    <a:pt x="929977" y="0"/>
                  </a:lnTo>
                  <a:lnTo>
                    <a:pt x="1992808" y="173680"/>
                  </a:lnTo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82340" y="590661"/>
              <a:ext cx="425450" cy="992505"/>
            </a:xfrm>
            <a:custGeom>
              <a:avLst/>
              <a:gdLst/>
              <a:ahLst/>
              <a:cxnLst/>
              <a:rect l="l" t="t" r="r" b="b"/>
              <a:pathLst>
                <a:path w="425450" h="992505">
                  <a:moveTo>
                    <a:pt x="0" y="992459"/>
                  </a:moveTo>
                  <a:lnTo>
                    <a:pt x="425132" y="0"/>
                  </a:lnTo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7034" y="155781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57034" y="155781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89888" y="131900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9888" y="131900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55596" y="101816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55596" y="101816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87011" y="928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87011" y="928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49843" y="110190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49843" y="110190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818483" y="1852396"/>
            <a:ext cx="1120775" cy="41655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R="125095" algn="ctr">
              <a:lnSpc>
                <a:spcPct val="100000"/>
              </a:lnSpc>
              <a:spcBef>
                <a:spcPts val="320"/>
              </a:spcBef>
            </a:pPr>
            <a:r>
              <a:rPr sz="1100" spc="-50" dirty="0">
                <a:latin typeface="Tahoma"/>
                <a:cs typeface="Tahoma"/>
              </a:rPr>
              <a:t>8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100" spc="-50" dirty="0">
                <a:latin typeface="Tahoma"/>
                <a:cs typeface="Tahoma"/>
              </a:rPr>
              <a:t>Numero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processi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28251" y="986454"/>
            <a:ext cx="164465" cy="5111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rPr sz="1100" spc="-55" dirty="0">
                <a:latin typeface="Tahoma"/>
                <a:cs typeface="Tahoma"/>
              </a:rPr>
              <a:t>Speedup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21713" y="1514464"/>
            <a:ext cx="978535" cy="337820"/>
            <a:chOff x="4521713" y="1514464"/>
            <a:chExt cx="978535" cy="337820"/>
          </a:xfrm>
        </p:grpSpPr>
        <p:sp>
          <p:nvSpPr>
            <p:cNvPr id="37" name="object 37"/>
            <p:cNvSpPr/>
            <p:nvPr/>
          </p:nvSpPr>
          <p:spPr>
            <a:xfrm>
              <a:off x="4521713" y="1514464"/>
              <a:ext cx="978535" cy="337820"/>
            </a:xfrm>
            <a:custGeom>
              <a:avLst/>
              <a:gdLst/>
              <a:ahLst/>
              <a:cxnLst/>
              <a:rect l="l" t="t" r="r" b="b"/>
              <a:pathLst>
                <a:path w="978535" h="337819">
                  <a:moveTo>
                    <a:pt x="978459" y="0"/>
                  </a:moveTo>
                  <a:lnTo>
                    <a:pt x="0" y="0"/>
                  </a:lnTo>
                  <a:lnTo>
                    <a:pt x="0" y="337194"/>
                  </a:lnTo>
                  <a:lnTo>
                    <a:pt x="978459" y="337194"/>
                  </a:lnTo>
                  <a:lnTo>
                    <a:pt x="978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64722" y="1611414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>
                  <a:moveTo>
                    <a:pt x="0" y="0"/>
                  </a:moveTo>
                  <a:lnTo>
                    <a:pt x="108002" y="0"/>
                  </a:lnTo>
                  <a:lnTo>
                    <a:pt x="216004" y="0"/>
                  </a:lnTo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47419" y="158610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8C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47419" y="158610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10122">
              <a:solidFill>
                <a:srgbClr val="008C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64722" y="1754708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>
                  <a:moveTo>
                    <a:pt x="0" y="0"/>
                  </a:moveTo>
                  <a:lnTo>
                    <a:pt x="108002" y="0"/>
                  </a:lnTo>
                  <a:lnTo>
                    <a:pt x="216004" y="0"/>
                  </a:lnTo>
                </a:path>
              </a:pathLst>
            </a:custGeom>
            <a:ln w="5060">
              <a:solidFill>
                <a:srgbClr val="7F7F7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521713" y="1514464"/>
            <a:ext cx="978535" cy="379095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473075" marR="55244" indent="-184150">
              <a:lnSpc>
                <a:spcPts val="1130"/>
              </a:lnSpc>
              <a:spcBef>
                <a:spcPts val="60"/>
              </a:spcBef>
            </a:pPr>
            <a:r>
              <a:rPr sz="800" spc="-10" dirty="0">
                <a:latin typeface="Georgia"/>
                <a:cs typeface="Georgia"/>
              </a:rPr>
              <a:t>Speedup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reale</a:t>
            </a:r>
            <a:r>
              <a:rPr sz="800" spc="50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Ideale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25660" y="2358225"/>
            <a:ext cx="252349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Georgia"/>
                <a:cs typeface="Georgia"/>
              </a:rPr>
              <a:t>Speedup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vs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numero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di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processi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(baseline,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32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immagini).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45" name="object 45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11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0866" y="1170914"/>
            <a:ext cx="4429125" cy="659765"/>
            <a:chOff x="690866" y="1170914"/>
            <a:chExt cx="4429125" cy="659765"/>
          </a:xfrm>
        </p:grpSpPr>
        <p:sp>
          <p:nvSpPr>
            <p:cNvPr id="3" name="object 3"/>
            <p:cNvSpPr/>
            <p:nvPr/>
          </p:nvSpPr>
          <p:spPr>
            <a:xfrm>
              <a:off x="690866" y="1170914"/>
              <a:ext cx="4378325" cy="82550"/>
            </a:xfrm>
            <a:custGeom>
              <a:avLst/>
              <a:gdLst/>
              <a:ahLst/>
              <a:cxnLst/>
              <a:rect l="l" t="t" r="r" b="b"/>
              <a:pathLst>
                <a:path w="4378325" h="82550">
                  <a:moveTo>
                    <a:pt x="432751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378317" y="82384"/>
                  </a:lnTo>
                  <a:lnTo>
                    <a:pt x="4378317" y="50800"/>
                  </a:lnTo>
                  <a:lnTo>
                    <a:pt x="4374309" y="31075"/>
                  </a:lnTo>
                  <a:lnTo>
                    <a:pt x="4363395" y="14922"/>
                  </a:lnTo>
                  <a:lnTo>
                    <a:pt x="4347242" y="4008"/>
                  </a:lnTo>
                  <a:lnTo>
                    <a:pt x="4327517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1667" y="1234165"/>
              <a:ext cx="4378325" cy="596265"/>
            </a:xfrm>
            <a:custGeom>
              <a:avLst/>
              <a:gdLst/>
              <a:ahLst/>
              <a:cxnLst/>
              <a:rect l="l" t="t" r="r" b="b"/>
              <a:pathLst>
                <a:path w="4378325" h="596264">
                  <a:moveTo>
                    <a:pt x="4378317" y="0"/>
                  </a:moveTo>
                  <a:lnTo>
                    <a:pt x="0" y="0"/>
                  </a:lnTo>
                  <a:lnTo>
                    <a:pt x="0" y="596172"/>
                  </a:lnTo>
                  <a:lnTo>
                    <a:pt x="4378317" y="596172"/>
                  </a:lnTo>
                  <a:lnTo>
                    <a:pt x="4378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66" y="1215328"/>
              <a:ext cx="4378325" cy="564515"/>
            </a:xfrm>
            <a:custGeom>
              <a:avLst/>
              <a:gdLst/>
              <a:ahLst/>
              <a:cxnLst/>
              <a:rect l="l" t="t" r="r" b="b"/>
              <a:pathLst>
                <a:path w="4378325" h="564514">
                  <a:moveTo>
                    <a:pt x="4378317" y="0"/>
                  </a:moveTo>
                  <a:lnTo>
                    <a:pt x="0" y="0"/>
                  </a:lnTo>
                  <a:lnTo>
                    <a:pt x="0" y="513407"/>
                  </a:lnTo>
                  <a:lnTo>
                    <a:pt x="4008" y="533132"/>
                  </a:lnTo>
                  <a:lnTo>
                    <a:pt x="14922" y="549285"/>
                  </a:lnTo>
                  <a:lnTo>
                    <a:pt x="31075" y="560199"/>
                  </a:lnTo>
                  <a:lnTo>
                    <a:pt x="50800" y="564208"/>
                  </a:lnTo>
                  <a:lnTo>
                    <a:pt x="4327517" y="564208"/>
                  </a:lnTo>
                  <a:lnTo>
                    <a:pt x="4347242" y="560199"/>
                  </a:lnTo>
                  <a:lnTo>
                    <a:pt x="4363395" y="549285"/>
                  </a:lnTo>
                  <a:lnTo>
                    <a:pt x="4374309" y="533132"/>
                  </a:lnTo>
                  <a:lnTo>
                    <a:pt x="4378317" y="513407"/>
                  </a:lnTo>
                  <a:lnTo>
                    <a:pt x="4378317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77670" y="1366519"/>
            <a:ext cx="2604770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Stadio</a:t>
            </a:r>
            <a:r>
              <a:rPr sz="1150" spc="3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2:</a:t>
            </a:r>
            <a:r>
              <a:rPr sz="1150" spc="13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sz="115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Segmentazione</a:t>
            </a:r>
            <a:r>
              <a:rPr sz="1150" spc="355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150" spc="-1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Semantica</a:t>
            </a:r>
            <a:endParaRPr sz="11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Architettura:</a:t>
            </a:r>
            <a:r>
              <a:rPr spc="250" dirty="0"/>
              <a:t> </a:t>
            </a:r>
            <a:r>
              <a:rPr spc="-50" dirty="0"/>
              <a:t>U-</a:t>
            </a:r>
            <a:r>
              <a:rPr dirty="0"/>
              <a:t>Net</a:t>
            </a:r>
            <a:r>
              <a:rPr spc="120" dirty="0"/>
              <a:t> </a:t>
            </a:r>
            <a:r>
              <a:rPr spc="225" dirty="0"/>
              <a:t>+</a:t>
            </a:r>
            <a:r>
              <a:rPr spc="114" dirty="0"/>
              <a:t> </a:t>
            </a:r>
            <a:r>
              <a:rPr dirty="0"/>
              <a:t>attenzione</a:t>
            </a:r>
            <a:r>
              <a:rPr spc="114" dirty="0"/>
              <a:t> </a:t>
            </a:r>
            <a:r>
              <a:rPr spc="-20" dirty="0"/>
              <a:t>scSE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811" y="557682"/>
            <a:ext cx="2941955" cy="18548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6530" marR="172720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SzPct val="104761"/>
              <a:buFont typeface="Meiryo UI"/>
              <a:buChar char="•"/>
              <a:tabLst>
                <a:tab pos="176530" algn="l"/>
              </a:tabLst>
            </a:pPr>
            <a:r>
              <a:rPr sz="1050" spc="50" dirty="0">
                <a:latin typeface="Arial"/>
                <a:cs typeface="Arial"/>
              </a:rPr>
              <a:t>U-</a:t>
            </a:r>
            <a:r>
              <a:rPr sz="1050" spc="60" dirty="0">
                <a:latin typeface="Arial"/>
                <a:cs typeface="Arial"/>
              </a:rPr>
              <a:t>Net</a:t>
            </a:r>
            <a:r>
              <a:rPr sz="1050" spc="45" dirty="0">
                <a:latin typeface="Arial"/>
                <a:cs typeface="Arial"/>
              </a:rPr>
              <a:t> </a:t>
            </a:r>
            <a:r>
              <a:rPr sz="1100" spc="-65" dirty="0">
                <a:latin typeface="Tahoma"/>
                <a:cs typeface="Tahoma"/>
              </a:rPr>
              <a:t>encoder-</a:t>
            </a:r>
            <a:r>
              <a:rPr sz="1100" spc="-60" dirty="0">
                <a:latin typeface="Tahoma"/>
                <a:cs typeface="Tahoma"/>
              </a:rPr>
              <a:t>decoder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skip</a:t>
            </a:r>
            <a:r>
              <a:rPr sz="1100" spc="-5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008CA0"/>
                </a:solidFill>
                <a:latin typeface="Tahoma"/>
                <a:cs typeface="Tahoma"/>
              </a:rPr>
              <a:t>connection</a:t>
            </a:r>
            <a:r>
              <a:rPr sz="1100" spc="-45" dirty="0">
                <a:latin typeface="Tahoma"/>
                <a:cs typeface="Tahoma"/>
              </a:rPr>
              <a:t>: </a:t>
            </a:r>
            <a:r>
              <a:rPr sz="1100" spc="-60" dirty="0">
                <a:latin typeface="Tahoma"/>
                <a:cs typeface="Tahoma"/>
              </a:rPr>
              <a:t>recupera</a:t>
            </a:r>
            <a:r>
              <a:rPr sz="1100" dirty="0">
                <a:latin typeface="Tahoma"/>
                <a:cs typeface="Tahoma"/>
              </a:rPr>
              <a:t> i </a:t>
            </a:r>
            <a:r>
              <a:rPr sz="1100" spc="-25" dirty="0">
                <a:latin typeface="Tahoma"/>
                <a:cs typeface="Tahoma"/>
              </a:rPr>
              <a:t>dettagli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spaziali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ini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dei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tracciati sottili.</a:t>
            </a:r>
            <a:endParaRPr sz="1100">
              <a:latin typeface="Tahoma"/>
              <a:cs typeface="Tahoma"/>
            </a:endParaRPr>
          </a:p>
          <a:p>
            <a:pPr marL="176530" marR="36195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35" dirty="0">
                <a:latin typeface="Tahoma"/>
                <a:cs typeface="Tahoma"/>
              </a:rPr>
              <a:t>Encoder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950" spc="80" dirty="0">
                <a:latin typeface="SimSun"/>
                <a:cs typeface="SimSun"/>
              </a:rPr>
              <a:t>resnet50</a:t>
            </a:r>
            <a:r>
              <a:rPr sz="950" spc="-120" dirty="0">
                <a:latin typeface="SimSun"/>
                <a:cs typeface="SimSun"/>
              </a:rPr>
              <a:t> </a:t>
            </a:r>
            <a:r>
              <a:rPr sz="1100" spc="-75" dirty="0">
                <a:latin typeface="Tahoma"/>
                <a:cs typeface="Tahoma"/>
              </a:rPr>
              <a:t>pre-</a:t>
            </a:r>
            <a:r>
              <a:rPr sz="1100" spc="-45" dirty="0">
                <a:latin typeface="Tahoma"/>
                <a:cs typeface="Tahoma"/>
              </a:rPr>
              <a:t>addestrato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su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ImageNet </a:t>
            </a:r>
            <a:r>
              <a:rPr sz="1100" spc="-40" dirty="0">
                <a:latin typeface="Tahoma"/>
                <a:cs typeface="Tahoma"/>
              </a:rPr>
              <a:t>(intercambiabile:</a:t>
            </a:r>
            <a:r>
              <a:rPr sz="1100" spc="3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EicientNet,</a:t>
            </a:r>
            <a:r>
              <a:rPr sz="1100" spc="1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transformer MiT).</a:t>
            </a:r>
            <a:endParaRPr sz="1100">
              <a:latin typeface="Tahoma"/>
              <a:cs typeface="Tahoma"/>
            </a:endParaRPr>
          </a:p>
          <a:p>
            <a:pPr marL="176530" marR="304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40" dirty="0">
                <a:latin typeface="Tahoma"/>
                <a:cs typeface="Tahoma"/>
              </a:rPr>
              <a:t>Decoder </a:t>
            </a:r>
            <a:r>
              <a:rPr sz="1100" spc="-35" dirty="0">
                <a:latin typeface="Tahoma"/>
                <a:cs typeface="Tahoma"/>
              </a:rPr>
              <a:t>con attenzione 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scSE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ricalibra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 </a:t>
            </a:r>
            <a:r>
              <a:rPr sz="1100" spc="-45" dirty="0">
                <a:latin typeface="Tahoma"/>
                <a:cs typeface="Tahoma"/>
              </a:rPr>
              <a:t>feature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canale</a:t>
            </a:r>
            <a:r>
              <a:rPr sz="105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(cSE)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posizione</a:t>
            </a:r>
            <a:r>
              <a:rPr sz="105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ahoma"/>
                <a:cs typeface="Tahoma"/>
              </a:rPr>
              <a:t>(sSE).</a:t>
            </a:r>
            <a:endParaRPr sz="1100">
              <a:latin typeface="Tahoma"/>
              <a:cs typeface="Tahoma"/>
            </a:endParaRPr>
          </a:p>
          <a:p>
            <a:pPr marL="176530" marR="103505" indent="-139065">
              <a:lnSpc>
                <a:spcPct val="102699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30" dirty="0">
                <a:latin typeface="Tahoma"/>
                <a:cs typeface="Tahoma"/>
              </a:rPr>
              <a:t>Riduce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falsi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positivi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sulla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griglia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millimetrata, </a:t>
            </a:r>
            <a:r>
              <a:rPr sz="1100" spc="-50" dirty="0">
                <a:latin typeface="Tahoma"/>
                <a:cs typeface="Tahoma"/>
              </a:rPr>
              <a:t>che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condivide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tratti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visivi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tracciato.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7958" y="584143"/>
            <a:ext cx="1799202" cy="11943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0588" y="1856163"/>
            <a:ext cx="1632650" cy="83680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16312" y="2763862"/>
            <a:ext cx="163576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30" dirty="0">
                <a:latin typeface="Georgia"/>
                <a:cs typeface="Georgia"/>
              </a:rPr>
              <a:t>U-</a:t>
            </a:r>
            <a:r>
              <a:rPr sz="800" dirty="0">
                <a:latin typeface="Georgia"/>
                <a:cs typeface="Georgia"/>
              </a:rPr>
              <a:t>Net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(alto)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blocco</a:t>
            </a:r>
            <a:r>
              <a:rPr sz="800" spc="8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scSE</a:t>
            </a:r>
            <a:r>
              <a:rPr sz="800" spc="8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(basso).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8" name="object 8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13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Funzione</a:t>
            </a:r>
            <a:r>
              <a:rPr spc="50" dirty="0"/>
              <a:t> </a:t>
            </a:r>
            <a:r>
              <a:rPr dirty="0"/>
              <a:t>di</a:t>
            </a:r>
            <a:r>
              <a:rPr spc="50" dirty="0"/>
              <a:t> </a:t>
            </a:r>
            <a:r>
              <a:rPr dirty="0"/>
              <a:t>perdita</a:t>
            </a:r>
            <a:r>
              <a:rPr spc="50" dirty="0"/>
              <a:t> </a:t>
            </a:r>
            <a:r>
              <a:rPr spc="-10" dirty="0"/>
              <a:t>composita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5267" y="714589"/>
            <a:ext cx="2543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195" baseline="10101" dirty="0">
                <a:latin typeface="Meiryo UI"/>
                <a:cs typeface="Meiryo UI"/>
              </a:rPr>
              <a:t>L</a:t>
            </a:r>
            <a:r>
              <a:rPr sz="1650" i="1" spc="-75" baseline="10101" dirty="0">
                <a:latin typeface="Meiryo UI"/>
                <a:cs typeface="Meiryo UI"/>
              </a:rPr>
              <a:t> </a:t>
            </a:r>
            <a:r>
              <a:rPr sz="1650" baseline="10101" dirty="0">
                <a:latin typeface="Tahoma"/>
                <a:cs typeface="Tahoma"/>
              </a:rPr>
              <a:t>=</a:t>
            </a:r>
            <a:r>
              <a:rPr sz="1650" spc="-15" baseline="10101" dirty="0">
                <a:latin typeface="Tahoma"/>
                <a:cs typeface="Tahoma"/>
              </a:rPr>
              <a:t> </a:t>
            </a:r>
            <a:r>
              <a:rPr sz="1650" i="1" baseline="10101" dirty="0">
                <a:latin typeface="Comic Sans MS"/>
                <a:cs typeface="Comic Sans MS"/>
              </a:rPr>
              <a:t>w</a:t>
            </a:r>
            <a:r>
              <a:rPr sz="800" dirty="0">
                <a:latin typeface="Georgia"/>
                <a:cs typeface="Georgia"/>
              </a:rPr>
              <a:t>focal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1650" i="1" baseline="10101" dirty="0">
                <a:latin typeface="Meiryo UI"/>
                <a:cs typeface="Meiryo UI"/>
              </a:rPr>
              <a:t>L</a:t>
            </a:r>
            <a:r>
              <a:rPr sz="800" dirty="0">
                <a:latin typeface="Georgia"/>
                <a:cs typeface="Georgia"/>
              </a:rPr>
              <a:t>Focal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1650" baseline="10101" dirty="0">
                <a:latin typeface="Tahoma"/>
                <a:cs typeface="Tahoma"/>
              </a:rPr>
              <a:t>+</a:t>
            </a:r>
            <a:r>
              <a:rPr sz="1650" spc="-120" baseline="10101" dirty="0">
                <a:latin typeface="Tahoma"/>
                <a:cs typeface="Tahoma"/>
              </a:rPr>
              <a:t> </a:t>
            </a:r>
            <a:r>
              <a:rPr sz="1650" i="1" baseline="10101" dirty="0">
                <a:latin typeface="Comic Sans MS"/>
                <a:cs typeface="Comic Sans MS"/>
              </a:rPr>
              <a:t>w</a:t>
            </a:r>
            <a:r>
              <a:rPr sz="800" dirty="0">
                <a:latin typeface="Georgia"/>
                <a:cs typeface="Georgia"/>
              </a:rPr>
              <a:t>dice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1650" i="1" baseline="10101" dirty="0">
                <a:latin typeface="Meiryo UI"/>
                <a:cs typeface="Meiryo UI"/>
              </a:rPr>
              <a:t>L</a:t>
            </a:r>
            <a:r>
              <a:rPr sz="800" dirty="0">
                <a:latin typeface="Georgia"/>
                <a:cs typeface="Georgia"/>
              </a:rPr>
              <a:t>Dice</a:t>
            </a:r>
            <a:r>
              <a:rPr sz="800" spc="114" dirty="0">
                <a:latin typeface="Georgia"/>
                <a:cs typeface="Georgia"/>
              </a:rPr>
              <a:t> </a:t>
            </a:r>
            <a:r>
              <a:rPr sz="1650" baseline="10101" dirty="0">
                <a:latin typeface="Tahoma"/>
                <a:cs typeface="Tahoma"/>
              </a:rPr>
              <a:t>+</a:t>
            </a:r>
            <a:r>
              <a:rPr sz="1650" spc="-120" baseline="10101" dirty="0">
                <a:latin typeface="Tahoma"/>
                <a:cs typeface="Tahoma"/>
              </a:rPr>
              <a:t> </a:t>
            </a:r>
            <a:r>
              <a:rPr sz="1650" i="1" baseline="10101" dirty="0">
                <a:latin typeface="Comic Sans MS"/>
                <a:cs typeface="Comic Sans MS"/>
              </a:rPr>
              <a:t>w</a:t>
            </a:r>
            <a:r>
              <a:rPr sz="800" dirty="0">
                <a:latin typeface="Georgia"/>
                <a:cs typeface="Georgia"/>
              </a:rPr>
              <a:t>cl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1650" i="1" spc="-15" baseline="10101" dirty="0">
                <a:latin typeface="Meiryo UI"/>
                <a:cs typeface="Meiryo UI"/>
              </a:rPr>
              <a:t>L</a:t>
            </a:r>
            <a:r>
              <a:rPr sz="800" spc="-10" dirty="0">
                <a:latin typeface="Georgia"/>
                <a:cs typeface="Georgia"/>
              </a:rPr>
              <a:t>clDice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743" y="1330946"/>
            <a:ext cx="1801495" cy="193675"/>
          </a:xfrm>
          <a:custGeom>
            <a:avLst/>
            <a:gdLst/>
            <a:ahLst/>
            <a:cxnLst/>
            <a:rect l="l" t="t" r="r" b="b"/>
            <a:pathLst>
              <a:path w="1801495" h="193675">
                <a:moveTo>
                  <a:pt x="17505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1801311" y="193069"/>
                </a:lnTo>
                <a:lnTo>
                  <a:pt x="1801311" y="50800"/>
                </a:lnTo>
                <a:lnTo>
                  <a:pt x="1797302" y="31075"/>
                </a:lnTo>
                <a:lnTo>
                  <a:pt x="1786388" y="14922"/>
                </a:lnTo>
                <a:lnTo>
                  <a:pt x="1770235" y="4008"/>
                </a:lnTo>
                <a:lnTo>
                  <a:pt x="1750510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8544" y="1365411"/>
            <a:ext cx="331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30" dirty="0">
                <a:solidFill>
                  <a:srgbClr val="003F72"/>
                </a:solidFill>
                <a:latin typeface="Times New Roman"/>
                <a:cs typeface="Times New Roman"/>
              </a:rPr>
              <a:t>Focal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544" y="1536563"/>
            <a:ext cx="180149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93980" algn="just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latin typeface="Georgia"/>
                <a:cs typeface="Georgia"/>
              </a:rPr>
              <a:t>Gestisce</a:t>
            </a:r>
            <a:r>
              <a:rPr sz="900" spc="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lo</a:t>
            </a:r>
            <a:r>
              <a:rPr sz="900" spc="5" dirty="0">
                <a:latin typeface="Georgia"/>
                <a:cs typeface="Georgia"/>
              </a:rPr>
              <a:t> </a:t>
            </a:r>
            <a:r>
              <a:rPr sz="900" spc="-30" dirty="0">
                <a:solidFill>
                  <a:srgbClr val="008CA0"/>
                </a:solidFill>
                <a:latin typeface="Georgia"/>
                <a:cs typeface="Georgia"/>
              </a:rPr>
              <a:t>sbilanciamento</a:t>
            </a:r>
            <a:r>
              <a:rPr sz="900" spc="1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30" dirty="0">
                <a:solidFill>
                  <a:srgbClr val="008CA0"/>
                </a:solidFill>
                <a:latin typeface="Georgia"/>
                <a:cs typeface="Georgia"/>
              </a:rPr>
              <a:t>estremo</a:t>
            </a:r>
            <a:r>
              <a:rPr sz="90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(&lt;5%</a:t>
            </a:r>
            <a:r>
              <a:rPr sz="900" spc="12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pixel</a:t>
            </a:r>
            <a:r>
              <a:rPr sz="900" spc="12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di</a:t>
            </a:r>
            <a:r>
              <a:rPr sz="900" spc="12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tracciato):</a:t>
            </a:r>
            <a:r>
              <a:rPr sz="900" spc="2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pesa</a:t>
            </a:r>
            <a:r>
              <a:rPr sz="900" spc="12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di</a:t>
            </a:r>
            <a:r>
              <a:rPr sz="900" spc="-10" dirty="0">
                <a:latin typeface="Georgia"/>
                <a:cs typeface="Georgia"/>
              </a:rPr>
              <a:t> piu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i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5" dirty="0">
                <a:latin typeface="Georgia"/>
                <a:cs typeface="Georgia"/>
              </a:rPr>
              <a:t>pixel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diicili.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79357" y="1330946"/>
            <a:ext cx="1801495" cy="187960"/>
          </a:xfrm>
          <a:custGeom>
            <a:avLst/>
            <a:gdLst/>
            <a:ahLst/>
            <a:cxnLst/>
            <a:rect l="l" t="t" r="r" b="b"/>
            <a:pathLst>
              <a:path w="1801495" h="187959">
                <a:moveTo>
                  <a:pt x="17505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798"/>
                </a:lnTo>
                <a:lnTo>
                  <a:pt x="1801311" y="187798"/>
                </a:lnTo>
                <a:lnTo>
                  <a:pt x="1801311" y="50800"/>
                </a:lnTo>
                <a:lnTo>
                  <a:pt x="1797302" y="31075"/>
                </a:lnTo>
                <a:lnTo>
                  <a:pt x="1786388" y="14922"/>
                </a:lnTo>
                <a:lnTo>
                  <a:pt x="1770235" y="4008"/>
                </a:lnTo>
                <a:lnTo>
                  <a:pt x="1750510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30158" y="1360141"/>
            <a:ext cx="27432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50" dirty="0">
                <a:solidFill>
                  <a:srgbClr val="003F72"/>
                </a:solidFill>
                <a:latin typeface="Times New Roman"/>
                <a:cs typeface="Times New Roman"/>
              </a:rPr>
              <a:t>Dice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30158" y="1531292"/>
            <a:ext cx="180149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93980" algn="just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Georgia"/>
                <a:cs typeface="Georgia"/>
              </a:rPr>
              <a:t>Misura</a:t>
            </a:r>
            <a:r>
              <a:rPr sz="900" spc="9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la</a:t>
            </a:r>
            <a:r>
              <a:rPr sz="900" spc="100" dirty="0"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008CA0"/>
                </a:solidFill>
                <a:latin typeface="Georgia"/>
                <a:cs typeface="Georgia"/>
              </a:rPr>
              <a:t>sovrapposizione</a:t>
            </a:r>
            <a:r>
              <a:rPr sz="900" spc="10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20" dirty="0">
                <a:solidFill>
                  <a:srgbClr val="008CA0"/>
                </a:solidFill>
                <a:latin typeface="Georgia"/>
                <a:cs typeface="Georgia"/>
              </a:rPr>
              <a:t>globale</a:t>
            </a:r>
            <a:r>
              <a:rPr sz="900" spc="500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maschera/ground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truth;</a:t>
            </a:r>
            <a:r>
              <a:rPr sz="900" spc="25" dirty="0">
                <a:latin typeface="Georgia"/>
                <a:cs typeface="Georgia"/>
              </a:rPr>
              <a:t> </a:t>
            </a:r>
            <a:r>
              <a:rPr sz="900" spc="-40" dirty="0">
                <a:latin typeface="Georgia"/>
                <a:cs typeface="Georgia"/>
              </a:rPr>
              <a:t>insensibile</a:t>
            </a:r>
            <a:r>
              <a:rPr sz="900" spc="-10" dirty="0">
                <a:latin typeface="Georgia"/>
                <a:cs typeface="Georgia"/>
              </a:rPr>
              <a:t> allo</a:t>
            </a:r>
            <a:r>
              <a:rPr sz="900" spc="-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sbilanciamento.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70959" y="1330946"/>
            <a:ext cx="1801495" cy="193675"/>
          </a:xfrm>
          <a:custGeom>
            <a:avLst/>
            <a:gdLst/>
            <a:ahLst/>
            <a:cxnLst/>
            <a:rect l="l" t="t" r="r" b="b"/>
            <a:pathLst>
              <a:path w="1801495" h="193675">
                <a:moveTo>
                  <a:pt x="17505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1801311" y="193069"/>
                </a:lnTo>
                <a:lnTo>
                  <a:pt x="1801311" y="50800"/>
                </a:lnTo>
                <a:lnTo>
                  <a:pt x="1797302" y="31075"/>
                </a:lnTo>
                <a:lnTo>
                  <a:pt x="1786388" y="14922"/>
                </a:lnTo>
                <a:lnTo>
                  <a:pt x="1770235" y="4008"/>
                </a:lnTo>
                <a:lnTo>
                  <a:pt x="1750510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21759" y="1365411"/>
            <a:ext cx="37528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50" dirty="0">
                <a:solidFill>
                  <a:srgbClr val="003F72"/>
                </a:solidFill>
                <a:latin typeface="Times New Roman"/>
                <a:cs typeface="Times New Roman"/>
              </a:rPr>
              <a:t>clDice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21759" y="1536563"/>
            <a:ext cx="1801495" cy="4413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93980" algn="just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Georgia"/>
                <a:cs typeface="Georgia"/>
              </a:rPr>
              <a:t>Confronta</a:t>
            </a:r>
            <a:r>
              <a:rPr sz="900" spc="7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gli</a:t>
            </a:r>
            <a:r>
              <a:rPr sz="900" spc="80" dirty="0">
                <a:latin typeface="Georgia"/>
                <a:cs typeface="Georgia"/>
              </a:rPr>
              <a:t> </a:t>
            </a:r>
            <a:r>
              <a:rPr sz="900" dirty="0">
                <a:solidFill>
                  <a:srgbClr val="008CA0"/>
                </a:solidFill>
                <a:latin typeface="Georgia"/>
                <a:cs typeface="Georgia"/>
              </a:rPr>
              <a:t>scheletri</a:t>
            </a:r>
            <a:r>
              <a:rPr sz="900" dirty="0">
                <a:latin typeface="Georgia"/>
                <a:cs typeface="Georgia"/>
              </a:rPr>
              <a:t>:</a:t>
            </a:r>
            <a:r>
              <a:rPr sz="900" spc="24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penalizza</a:t>
            </a:r>
            <a:r>
              <a:rPr sz="900" spc="50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le </a:t>
            </a:r>
            <a:r>
              <a:rPr sz="900" spc="-35" dirty="0">
                <a:latin typeface="Georgia"/>
                <a:cs typeface="Georgia"/>
              </a:rPr>
              <a:t>interruzioni</a:t>
            </a:r>
            <a:r>
              <a:rPr sz="900" spc="2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topologiche </a:t>
            </a:r>
            <a:r>
              <a:rPr sz="900" spc="-35" dirty="0">
                <a:latin typeface="Georgia"/>
                <a:cs typeface="Georgia"/>
              </a:rPr>
              <a:t>del</a:t>
            </a:r>
            <a:r>
              <a:rPr sz="900" spc="1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trac-</a:t>
            </a:r>
            <a:r>
              <a:rPr sz="900" dirty="0">
                <a:latin typeface="Georgia"/>
                <a:cs typeface="Georgia"/>
              </a:rPr>
              <a:t>ciato</a:t>
            </a:r>
            <a:r>
              <a:rPr sz="900" spc="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(soft-</a:t>
            </a:r>
            <a:r>
              <a:rPr sz="900" spc="-35" dirty="0">
                <a:latin typeface="Georgia"/>
                <a:cs typeface="Georgia"/>
              </a:rPr>
              <a:t>skeleton</a:t>
            </a:r>
            <a:r>
              <a:rPr sz="900" spc="5" dirty="0">
                <a:latin typeface="Georgia"/>
                <a:cs typeface="Georgia"/>
              </a:rPr>
              <a:t> </a:t>
            </a:r>
            <a:r>
              <a:rPr sz="900" spc="-30" dirty="0">
                <a:latin typeface="Georgia"/>
                <a:cs typeface="Georgia"/>
              </a:rPr>
              <a:t>differenziabile).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4452" y="2584211"/>
            <a:ext cx="3391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Georgia"/>
                <a:cs typeface="Georgia"/>
              </a:rPr>
              <a:t>Il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peso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della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clDice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solidFill>
                  <a:srgbClr val="008CA0"/>
                </a:solidFill>
                <a:latin typeface="Georgia"/>
                <a:cs typeface="Georgia"/>
              </a:rPr>
              <a:t>cresce</a:t>
            </a:r>
            <a:r>
              <a:rPr sz="900" spc="45" dirty="0">
                <a:solidFill>
                  <a:srgbClr val="008CA0"/>
                </a:solidFill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con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la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diicolta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20" dirty="0">
                <a:latin typeface="Georgia"/>
                <a:cs typeface="Georgia"/>
              </a:rPr>
              <a:t>degli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dirty="0">
                <a:latin typeface="Georgia"/>
                <a:cs typeface="Georgia"/>
              </a:rPr>
              <a:t>stage</a:t>
            </a:r>
            <a:r>
              <a:rPr sz="900" spc="45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del</a:t>
            </a:r>
            <a:r>
              <a:rPr sz="900" spc="50" dirty="0">
                <a:latin typeface="Georgia"/>
                <a:cs typeface="Georgia"/>
              </a:rPr>
              <a:t> </a:t>
            </a:r>
            <a:r>
              <a:rPr sz="900" spc="-10" dirty="0">
                <a:latin typeface="Georgia"/>
                <a:cs typeface="Georgia"/>
              </a:rPr>
              <a:t>curriculum.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27" name="object 27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14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Curriculum</a:t>
            </a:r>
            <a:r>
              <a:rPr dirty="0"/>
              <a:t> </a:t>
            </a:r>
            <a:r>
              <a:rPr spc="-10" dirty="0"/>
              <a:t>learning:</a:t>
            </a:r>
            <a:r>
              <a:rPr spc="100" dirty="0"/>
              <a:t> </a:t>
            </a:r>
            <a:r>
              <a:rPr dirty="0"/>
              <a:t>dal </a:t>
            </a:r>
            <a:r>
              <a:rPr spc="-10" dirty="0"/>
              <a:t>facile</a:t>
            </a:r>
            <a:r>
              <a:rPr dirty="0"/>
              <a:t> al </a:t>
            </a:r>
            <a:r>
              <a:rPr spc="40" dirty="0"/>
              <a:t>diicile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211" y="695794"/>
            <a:ext cx="2353945" cy="3441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1130" marR="5080" indent="-139065">
              <a:lnSpc>
                <a:spcPts val="1200"/>
              </a:lnSpc>
              <a:spcBef>
                <a:spcPts val="229"/>
              </a:spcBef>
              <a:buClr>
                <a:srgbClr val="003F72"/>
              </a:buClr>
              <a:buFont typeface="Meiryo UI"/>
              <a:buChar char="•"/>
              <a:tabLst>
                <a:tab pos="151130" algn="l"/>
              </a:tabLst>
            </a:pPr>
            <a:r>
              <a:rPr sz="1100" spc="-20" dirty="0">
                <a:latin typeface="Tahoma"/>
                <a:cs typeface="Tahoma"/>
              </a:rPr>
              <a:t>Tre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stage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diicolta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crescente,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8CA0"/>
                </a:solidFill>
                <a:latin typeface="Tahoma"/>
                <a:cs typeface="Tahoma"/>
              </a:rPr>
              <a:t>senza </a:t>
            </a:r>
            <a:r>
              <a:rPr sz="1100" spc="-35" dirty="0">
                <a:solidFill>
                  <a:srgbClr val="008CA0"/>
                </a:solidFill>
                <a:latin typeface="Tahoma"/>
                <a:cs typeface="Tahoma"/>
              </a:rPr>
              <a:t>reinizializzare</a:t>
            </a:r>
            <a:r>
              <a:rPr sz="1100" spc="1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modello: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43" y="1082506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067" y="1069945"/>
            <a:ext cx="70485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844" y="1037367"/>
            <a:ext cx="2176145" cy="480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850" spc="85" dirty="0">
                <a:latin typeface="SimSun"/>
                <a:cs typeface="SimSun"/>
              </a:rPr>
              <a:t>stageO_easy</a:t>
            </a:r>
            <a:r>
              <a:rPr sz="1000" spc="85" dirty="0">
                <a:latin typeface="Times New Roman"/>
                <a:cs typeface="Times New Roman"/>
              </a:rPr>
              <a:t>: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immagini</a:t>
            </a:r>
            <a:r>
              <a:rPr sz="1000" spc="8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pulite </a:t>
            </a:r>
            <a:r>
              <a:rPr sz="850" spc="90" dirty="0">
                <a:latin typeface="SimSun"/>
                <a:cs typeface="SimSun"/>
              </a:rPr>
              <a:t>stage1_medium</a:t>
            </a:r>
            <a:r>
              <a:rPr sz="1000" spc="90" dirty="0">
                <a:latin typeface="Times New Roman"/>
                <a:cs typeface="Times New Roman"/>
              </a:rPr>
              <a:t>:</a:t>
            </a:r>
            <a:r>
              <a:rPr sz="1000" spc="17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degradazioni</a:t>
            </a:r>
            <a:r>
              <a:rPr sz="1000" spc="7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moderate </a:t>
            </a:r>
            <a:r>
              <a:rPr sz="850" spc="85" dirty="0">
                <a:latin typeface="SimSun"/>
                <a:cs typeface="SimSun"/>
              </a:rPr>
              <a:t>stage2_hard</a:t>
            </a:r>
            <a:r>
              <a:rPr sz="1000" spc="85" dirty="0">
                <a:latin typeface="Times New Roman"/>
                <a:cs typeface="Times New Roman"/>
              </a:rPr>
              <a:t>:</a:t>
            </a:r>
            <a:r>
              <a:rPr sz="1000" spc="20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campioni</a:t>
            </a:r>
            <a:r>
              <a:rPr sz="1000" spc="9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complessi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943" y="1234335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6067" y="1221786"/>
            <a:ext cx="70485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6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3943" y="1386163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6067" y="1373615"/>
            <a:ext cx="70485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211" y="1538465"/>
            <a:ext cx="2469515" cy="3644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SzPct val="104761"/>
              <a:buFont typeface="Meiryo UI"/>
              <a:buChar char="•"/>
              <a:tabLst>
                <a:tab pos="151130" algn="l"/>
              </a:tabLst>
            </a:pPr>
            <a:r>
              <a:rPr sz="1050" dirty="0">
                <a:latin typeface="Arial"/>
                <a:cs typeface="Arial"/>
              </a:rPr>
              <a:t>Unfreezing</a:t>
            </a:r>
            <a:r>
              <a:rPr sz="1050" spc="17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progressivo</a:t>
            </a:r>
            <a:r>
              <a:rPr sz="1050" spc="13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dell'encoder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+ </a:t>
            </a:r>
            <a:r>
              <a:rPr sz="1100" spc="-35" dirty="0">
                <a:latin typeface="Tahoma"/>
                <a:cs typeface="Tahoma"/>
              </a:rPr>
              <a:t>dropout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crescente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stage.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2811" y="1920569"/>
            <a:ext cx="278892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6530" marR="258445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spc="-45" dirty="0">
                <a:latin typeface="Tahoma"/>
                <a:cs typeface="Tahoma"/>
              </a:rPr>
              <a:t>Learning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rate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decrescente</a:t>
            </a:r>
            <a:r>
              <a:rPr sz="1100" dirty="0">
                <a:latin typeface="Tahoma"/>
                <a:cs typeface="Tahoma"/>
              </a:rPr>
              <a:t> (10</a:t>
            </a:r>
            <a:r>
              <a:rPr sz="1200" i="1" baseline="27777" dirty="0">
                <a:latin typeface="Arial"/>
                <a:cs typeface="Arial"/>
              </a:rPr>
              <a:t>−</a:t>
            </a:r>
            <a:r>
              <a:rPr sz="1200" baseline="27777" dirty="0">
                <a:latin typeface="Georgia"/>
                <a:cs typeface="Georgia"/>
              </a:rPr>
              <a:t>4</a:t>
            </a:r>
            <a:r>
              <a:rPr sz="1200" spc="-52" baseline="27777" dirty="0">
                <a:latin typeface="Georgia"/>
                <a:cs typeface="Georgia"/>
              </a:rPr>
              <a:t> </a:t>
            </a:r>
            <a:r>
              <a:rPr sz="1100" i="1" spc="-30" dirty="0">
                <a:latin typeface="Meiryo UI"/>
                <a:cs typeface="Meiryo UI"/>
              </a:rPr>
              <a:t>→</a:t>
            </a:r>
            <a:r>
              <a:rPr sz="1100" i="1" spc="-254" dirty="0">
                <a:latin typeface="Meiryo UI"/>
                <a:cs typeface="Meiryo UI"/>
              </a:rPr>
              <a:t>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200" i="1" spc="-30" baseline="27777" dirty="0">
                <a:latin typeface="Arial"/>
                <a:cs typeface="Arial"/>
              </a:rPr>
              <a:t>−</a:t>
            </a:r>
            <a:r>
              <a:rPr sz="1200" spc="-30" baseline="27777" dirty="0">
                <a:latin typeface="Georgia"/>
                <a:cs typeface="Georgia"/>
              </a:rPr>
              <a:t>6</a:t>
            </a:r>
            <a:r>
              <a:rPr sz="1100" spc="-20" dirty="0">
                <a:latin typeface="Tahoma"/>
                <a:cs typeface="Tahoma"/>
              </a:rPr>
              <a:t>) </a:t>
            </a:r>
            <a:r>
              <a:rPr sz="1100" spc="-30" dirty="0">
                <a:latin typeface="Tahoma"/>
                <a:cs typeface="Tahoma"/>
              </a:rPr>
              <a:t>contro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il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catastrophic</a:t>
            </a:r>
            <a:r>
              <a:rPr sz="1050" spc="210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forgetting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76530" marR="304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76530" algn="l"/>
              </a:tabLst>
            </a:pPr>
            <a:r>
              <a:rPr sz="1100" dirty="0">
                <a:latin typeface="Tahoma"/>
                <a:cs typeface="Tahoma"/>
              </a:rPr>
              <a:t>Evita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minimi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locali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dominati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dagli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esempi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piu </a:t>
            </a:r>
            <a:r>
              <a:rPr sz="1100" spc="-10" dirty="0">
                <a:latin typeface="Tahoma"/>
                <a:cs typeface="Tahoma"/>
              </a:rPr>
              <a:t>rumorosi.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9173" y="1143033"/>
            <a:ext cx="2567564" cy="80291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39948" y="2025040"/>
            <a:ext cx="262382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10" dirty="0">
                <a:latin typeface="Georgia"/>
                <a:cs typeface="Georgia"/>
              </a:rPr>
              <a:t>Diagnostica</a:t>
            </a:r>
            <a:r>
              <a:rPr sz="800" spc="7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dello</a:t>
            </a:r>
            <a:r>
              <a:rPr sz="800" spc="70" dirty="0">
                <a:latin typeface="Georgia"/>
                <a:cs typeface="Georgia"/>
              </a:rPr>
              <a:t> </a:t>
            </a:r>
            <a:r>
              <a:rPr sz="700" spc="60" dirty="0">
                <a:latin typeface="SimSun"/>
                <a:cs typeface="SimSun"/>
              </a:rPr>
              <a:t>stage2_hard</a:t>
            </a:r>
            <a:r>
              <a:rPr sz="800" spc="60" dirty="0">
                <a:latin typeface="Georgia"/>
                <a:cs typeface="Georgia"/>
              </a:rPr>
              <a:t>:</a:t>
            </a:r>
            <a:r>
              <a:rPr sz="800" spc="15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loss</a:t>
            </a:r>
            <a:r>
              <a:rPr sz="800" spc="7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totale</a:t>
            </a:r>
            <a:r>
              <a:rPr sz="800" spc="7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</a:t>
            </a:r>
            <a:r>
              <a:rPr sz="800" spc="7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componenti.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16" name="object 16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15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52526"/>
            <a:ext cx="25380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Risultati</a:t>
            </a:r>
            <a:r>
              <a:rPr spc="50" dirty="0"/>
              <a:t> </a:t>
            </a:r>
            <a:r>
              <a:rPr dirty="0"/>
              <a:t>Stadio</a:t>
            </a:r>
            <a:r>
              <a:rPr spc="55" dirty="0"/>
              <a:t> </a:t>
            </a:r>
            <a:r>
              <a:rPr dirty="0"/>
              <a:t>2:</a:t>
            </a:r>
            <a:r>
              <a:rPr spc="170" dirty="0"/>
              <a:t> </a:t>
            </a:r>
            <a:r>
              <a:rPr dirty="0"/>
              <a:t>effetto</a:t>
            </a:r>
            <a:r>
              <a:rPr spc="50" dirty="0"/>
              <a:t> </a:t>
            </a:r>
            <a:r>
              <a:rPr dirty="0"/>
              <a:t>del</a:t>
            </a:r>
            <a:r>
              <a:rPr spc="55" dirty="0"/>
              <a:t> </a:t>
            </a:r>
            <a:r>
              <a:rPr spc="-10" dirty="0"/>
              <a:t>curriculum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169" y="486632"/>
            <a:ext cx="1614718" cy="1623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7599" y="2183612"/>
            <a:ext cx="5172075" cy="649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37535" algn="l"/>
              </a:tabLst>
            </a:pPr>
            <a:r>
              <a:rPr sz="700" spc="55" dirty="0">
                <a:latin typeface="SimSun"/>
                <a:cs typeface="SimSun"/>
              </a:rPr>
              <a:t>stageO</a:t>
            </a:r>
            <a:r>
              <a:rPr sz="800" spc="55" dirty="0">
                <a:latin typeface="Georgia"/>
                <a:cs typeface="Georgia"/>
              </a:rPr>
              <a:t>:</a:t>
            </a:r>
            <a:r>
              <a:rPr sz="800" spc="11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heatmap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20" dirty="0">
                <a:latin typeface="Georgia"/>
                <a:cs typeface="Georgia"/>
              </a:rPr>
              <a:t>rumorosa,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falsi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positivi</a:t>
            </a:r>
            <a:r>
              <a:rPr sz="800" spc="3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sulla</a:t>
            </a:r>
            <a:r>
              <a:rPr sz="800" spc="4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griglia.</a:t>
            </a:r>
            <a:r>
              <a:rPr sz="800" dirty="0">
                <a:latin typeface="Georgia"/>
                <a:cs typeface="Georgia"/>
              </a:rPr>
              <a:t>	</a:t>
            </a:r>
            <a:r>
              <a:rPr sz="700" spc="55" dirty="0">
                <a:latin typeface="SimSun"/>
                <a:cs typeface="SimSun"/>
              </a:rPr>
              <a:t>stage2</a:t>
            </a:r>
            <a:r>
              <a:rPr sz="800" spc="55" dirty="0">
                <a:latin typeface="Georgia"/>
                <a:cs typeface="Georgia"/>
              </a:rPr>
              <a:t>:</a:t>
            </a:r>
            <a:r>
              <a:rPr sz="800" spc="125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maschere</a:t>
            </a:r>
            <a:r>
              <a:rPr sz="800" spc="5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piu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pulite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e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complete.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800">
              <a:latin typeface="Georgia"/>
              <a:cs typeface="Georgia"/>
            </a:endParaRPr>
          </a:p>
          <a:p>
            <a:pPr marL="2379980" marR="5080" indent="-2274570">
              <a:lnSpc>
                <a:spcPct val="102600"/>
              </a:lnSpc>
            </a:pPr>
            <a:r>
              <a:rPr sz="1100" spc="-45" dirty="0">
                <a:latin typeface="Tahoma"/>
                <a:cs typeface="Tahoma"/>
              </a:rPr>
              <a:t>Esempi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sul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8CA0"/>
                </a:solidFill>
                <a:latin typeface="Tahoma"/>
                <a:cs typeface="Tahoma"/>
              </a:rPr>
              <a:t>test</a:t>
            </a:r>
            <a:r>
              <a:rPr sz="1100" spc="-35" dirty="0">
                <a:solidFill>
                  <a:srgbClr val="008CA0"/>
                </a:solidFill>
                <a:latin typeface="Tahoma"/>
                <a:cs typeface="Tahoma"/>
              </a:rPr>
              <a:t> set 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sintetico</a:t>
            </a:r>
            <a:r>
              <a:rPr sz="1100" spc="-25" dirty="0">
                <a:latin typeface="Tahoma"/>
                <a:cs typeface="Tahoma"/>
              </a:rPr>
              <a:t>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il</a:t>
            </a:r>
            <a:r>
              <a:rPr sz="1100" spc="-35" dirty="0">
                <a:latin typeface="Tahoma"/>
                <a:cs typeface="Tahoma"/>
              </a:rPr>
              <a:t> curriculum </a:t>
            </a:r>
            <a:r>
              <a:rPr sz="1100" spc="-40" dirty="0">
                <a:latin typeface="Tahoma"/>
                <a:cs typeface="Tahoma"/>
              </a:rPr>
              <a:t>riduce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falsi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positivi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sulla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griglia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completa </a:t>
            </a:r>
            <a:r>
              <a:rPr sz="1100" spc="-50" dirty="0">
                <a:latin typeface="Tahoma"/>
                <a:cs typeface="Tahoma"/>
              </a:rPr>
              <a:t>i </a:t>
            </a:r>
            <a:r>
              <a:rPr sz="1100" spc="-10" dirty="0">
                <a:latin typeface="Tahoma"/>
                <a:cs typeface="Tahoma"/>
              </a:rPr>
              <a:t>tracciati.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1774" y="486632"/>
            <a:ext cx="1614718" cy="16235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7" name="object 7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65"/>
              </a:lnSpc>
            </a:pPr>
            <a:fld id="{81D60167-4931-47E6-BA6A-407CBD079E47}" type="slidenum">
              <a:rPr spc="-35" dirty="0"/>
              <a:t>16</a:t>
            </a:fld>
            <a:r>
              <a:rPr spc="-50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Estensione:</a:t>
            </a:r>
            <a:r>
              <a:rPr spc="180" dirty="0"/>
              <a:t> </a:t>
            </a:r>
            <a:r>
              <a:rPr dirty="0"/>
              <a:t>detection</a:t>
            </a:r>
            <a:r>
              <a:rPr spc="65" dirty="0"/>
              <a:t> </a:t>
            </a:r>
            <a:r>
              <a:rPr dirty="0"/>
              <a:t>head</a:t>
            </a:r>
            <a:r>
              <a:rPr spc="65" dirty="0"/>
              <a:t> </a:t>
            </a:r>
            <a:r>
              <a:rPr spc="-20" dirty="0"/>
              <a:t>multi-task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6150" y="691291"/>
            <a:ext cx="600647" cy="17237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0111" y="604875"/>
            <a:ext cx="5339715" cy="22618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2540000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Font typeface="Meiryo UI"/>
              <a:buChar char="•"/>
              <a:tabLst>
                <a:tab pos="189230" algn="l"/>
              </a:tabLst>
            </a:pPr>
            <a:r>
              <a:rPr sz="1100" dirty="0">
                <a:latin typeface="Tahoma"/>
                <a:cs typeface="Tahoma"/>
              </a:rPr>
              <a:t>Oltre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alla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segmentazione,</a:t>
            </a:r>
            <a:r>
              <a:rPr sz="1100" spc="-20" dirty="0">
                <a:latin typeface="Tahoma"/>
                <a:cs typeface="Tahoma"/>
              </a:rPr>
              <a:t> localizza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050" dirty="0">
                <a:latin typeface="Arial"/>
                <a:cs typeface="Arial"/>
              </a:rPr>
              <a:t>12</a:t>
            </a:r>
            <a:r>
              <a:rPr sz="1050" spc="7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lead</a:t>
            </a:r>
            <a:r>
              <a:rPr sz="1100" spc="-20" dirty="0">
                <a:latin typeface="Tahoma"/>
                <a:cs typeface="Tahoma"/>
              </a:rPr>
              <a:t>: </a:t>
            </a:r>
            <a:r>
              <a:rPr sz="1100" spc="-65" dirty="0">
                <a:latin typeface="Tahoma"/>
                <a:cs typeface="Tahoma"/>
              </a:rPr>
              <a:t>presenza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bounding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box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tracciato </a:t>
            </a:r>
            <a:r>
              <a:rPr sz="1100" spc="-25" dirty="0">
                <a:latin typeface="Tahoma"/>
                <a:cs typeface="Tahoma"/>
              </a:rPr>
              <a:t>ed </a:t>
            </a:r>
            <a:r>
              <a:rPr sz="1100" spc="-10" dirty="0">
                <a:latin typeface="Tahoma"/>
                <a:cs typeface="Tahoma"/>
              </a:rPr>
              <a:t>etichetta.</a:t>
            </a:r>
            <a:endParaRPr sz="1100">
              <a:latin typeface="Tahoma"/>
              <a:cs typeface="Tahoma"/>
            </a:endParaRPr>
          </a:p>
          <a:p>
            <a:pPr marL="189230" marR="248412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89230" algn="l"/>
              </a:tabLst>
            </a:pPr>
            <a:r>
              <a:rPr sz="1100" spc="-50" dirty="0">
                <a:solidFill>
                  <a:srgbClr val="008CA0"/>
                </a:solidFill>
                <a:latin typeface="Tahoma"/>
                <a:cs typeface="Tahoma"/>
              </a:rPr>
              <a:t>Cross-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attention</a:t>
            </a:r>
            <a:r>
              <a:rPr sz="1100" spc="-5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008CA0"/>
                </a:solidFill>
                <a:latin typeface="Tahoma"/>
                <a:cs typeface="Tahoma"/>
              </a:rPr>
              <a:t>per</a:t>
            </a:r>
            <a:r>
              <a:rPr sz="1100" spc="-45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008CA0"/>
                </a:solidFill>
                <a:latin typeface="Tahoma"/>
                <a:cs typeface="Tahoma"/>
              </a:rPr>
              <a:t>lead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ogni</a:t>
            </a:r>
            <a:r>
              <a:rPr sz="1100" spc="-45" dirty="0">
                <a:latin typeface="Tahoma"/>
                <a:cs typeface="Tahoma"/>
              </a:rPr>
              <a:t> lead </a:t>
            </a:r>
            <a:r>
              <a:rPr sz="1100" spc="-20" dirty="0">
                <a:latin typeface="Tahoma"/>
                <a:cs typeface="Tahoma"/>
              </a:rPr>
              <a:t>ha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una </a:t>
            </a:r>
            <a:r>
              <a:rPr sz="1100" spc="-60" dirty="0">
                <a:latin typeface="Tahoma"/>
                <a:cs typeface="Tahoma"/>
              </a:rPr>
              <a:t>query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appresa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seleziona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propria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regione.</a:t>
            </a:r>
            <a:endParaRPr sz="1100">
              <a:latin typeface="Tahoma"/>
              <a:cs typeface="Tahoma"/>
            </a:endParaRPr>
          </a:p>
          <a:p>
            <a:pPr marL="189230" marR="241808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SzPct val="104761"/>
              <a:buFont typeface="Meiryo UI"/>
              <a:buChar char="•"/>
              <a:tabLst>
                <a:tab pos="189230" algn="l"/>
              </a:tabLst>
            </a:pPr>
            <a:r>
              <a:rPr sz="1050" dirty="0">
                <a:latin typeface="Arial"/>
                <a:cs typeface="Arial"/>
              </a:rPr>
              <a:t>Oriented</a:t>
            </a:r>
            <a:r>
              <a:rPr sz="1050" spc="2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Bounding</a:t>
            </a:r>
            <a:r>
              <a:rPr sz="1050" spc="2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Box</a:t>
            </a:r>
            <a:r>
              <a:rPr sz="1050" spc="1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(6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parametri,</a:t>
            </a:r>
            <a:r>
              <a:rPr sz="1100" spc="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doppio </a:t>
            </a:r>
            <a:r>
              <a:rPr sz="1100" spc="-45" dirty="0">
                <a:latin typeface="Tahoma"/>
                <a:cs typeface="Tahoma"/>
              </a:rPr>
              <a:t>angolo </a:t>
            </a:r>
            <a:r>
              <a:rPr sz="1100" spc="-50" dirty="0">
                <a:latin typeface="Tahoma"/>
                <a:cs typeface="Tahoma"/>
              </a:rPr>
              <a:t>sin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Georgia"/>
                <a:cs typeface="Georgia"/>
              </a:rPr>
              <a:t>/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65" dirty="0">
                <a:latin typeface="Tahoma"/>
                <a:cs typeface="Tahoma"/>
              </a:rPr>
              <a:t>cos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i="1" spc="-20" dirty="0">
                <a:latin typeface="Georgia"/>
                <a:cs typeface="Georgia"/>
              </a:rPr>
              <a:t>θ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</a:t>
            </a:r>
            <a:r>
              <a:rPr sz="1100" spc="-10" dirty="0">
                <a:latin typeface="Tahoma"/>
                <a:cs typeface="Tahoma"/>
              </a:rPr>
              <a:t> tracciati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ruotati.</a:t>
            </a:r>
            <a:endParaRPr sz="1100">
              <a:latin typeface="Tahoma"/>
              <a:cs typeface="Tahoma"/>
            </a:endParaRPr>
          </a:p>
          <a:p>
            <a:pPr marL="189230" marR="2739390" indent="-139065">
              <a:lnSpc>
                <a:spcPct val="102600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189230" algn="l"/>
              </a:tabLst>
            </a:pPr>
            <a:r>
              <a:rPr sz="1100" spc="-35" dirty="0">
                <a:latin typeface="Tahoma"/>
                <a:cs typeface="Tahoma"/>
              </a:rPr>
              <a:t>Addestrata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stage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dedicato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U-</a:t>
            </a:r>
            <a:r>
              <a:rPr sz="1100" spc="-25" dirty="0">
                <a:latin typeface="Tahoma"/>
                <a:cs typeface="Tahoma"/>
              </a:rPr>
              <a:t>Net </a:t>
            </a:r>
            <a:r>
              <a:rPr sz="1100" spc="-45" dirty="0">
                <a:latin typeface="Tahoma"/>
                <a:cs typeface="Tahoma"/>
              </a:rPr>
              <a:t>congelata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Meiryo UI"/>
                <a:cs typeface="Meiryo UI"/>
              </a:rPr>
              <a:t>⇒</a:t>
            </a:r>
            <a:r>
              <a:rPr sz="1100" i="1" spc="-40" dirty="0">
                <a:latin typeface="Meiryo UI"/>
                <a:cs typeface="Meiryo UI"/>
              </a:rPr>
              <a:t> </a:t>
            </a:r>
            <a:r>
              <a:rPr sz="1100" spc="-75" dirty="0">
                <a:latin typeface="Tahoma"/>
                <a:cs typeface="Tahoma"/>
              </a:rPr>
              <a:t>nessuna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interferenza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 </a:t>
            </a:r>
            <a:r>
              <a:rPr sz="1100" spc="-10" dirty="0">
                <a:latin typeface="Tahoma"/>
                <a:cs typeface="Tahoma"/>
              </a:rPr>
              <a:t>segmentazione.</a:t>
            </a:r>
            <a:endParaRPr sz="1100">
              <a:latin typeface="Tahoma"/>
              <a:cs typeface="Tahoma"/>
            </a:endParaRPr>
          </a:p>
          <a:p>
            <a:pPr marL="4044315" marR="17780" indent="-851535">
              <a:lnSpc>
                <a:spcPct val="141100"/>
              </a:lnSpc>
              <a:spcBef>
                <a:spcPts val="495"/>
              </a:spcBef>
            </a:pPr>
            <a:r>
              <a:rPr sz="800" dirty="0">
                <a:latin typeface="Georgia"/>
                <a:cs typeface="Georgia"/>
              </a:rPr>
              <a:t>Lead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localizzati:</a:t>
            </a:r>
            <a:r>
              <a:rPr sz="800" spc="120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box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verdi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140" dirty="0">
                <a:latin typeface="Georgia"/>
                <a:cs typeface="Georgia"/>
              </a:rPr>
              <a:t>=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dirty="0">
                <a:latin typeface="Georgia"/>
                <a:cs typeface="Georgia"/>
              </a:rPr>
              <a:t>tracciato,</a:t>
            </a:r>
            <a:r>
              <a:rPr sz="800" spc="50" dirty="0">
                <a:latin typeface="Georgia"/>
                <a:cs typeface="Georgia"/>
              </a:rPr>
              <a:t> </a:t>
            </a:r>
            <a:r>
              <a:rPr sz="800" spc="-10" dirty="0">
                <a:latin typeface="Georgia"/>
                <a:cs typeface="Georgia"/>
              </a:rPr>
              <a:t>gialli</a:t>
            </a:r>
            <a:r>
              <a:rPr sz="800" spc="45" dirty="0">
                <a:latin typeface="Georgia"/>
                <a:cs typeface="Georgia"/>
              </a:rPr>
              <a:t> </a:t>
            </a:r>
            <a:r>
              <a:rPr sz="800" spc="90" dirty="0">
                <a:latin typeface="Georgia"/>
                <a:cs typeface="Georgia"/>
              </a:rPr>
              <a:t>= </a:t>
            </a:r>
            <a:r>
              <a:rPr sz="800" spc="-10" dirty="0">
                <a:latin typeface="Georgia"/>
                <a:cs typeface="Georgia"/>
              </a:rPr>
              <a:t>etichette.</a:t>
            </a:r>
            <a:endParaRPr sz="80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5216"/>
            <a:ext cx="5760085" cy="114935"/>
            <a:chOff x="0" y="3125216"/>
            <a:chExt cx="5760085" cy="114935"/>
          </a:xfrm>
        </p:grpSpPr>
        <p:sp>
          <p:nvSpPr>
            <p:cNvPr id="6" name="object 6"/>
            <p:cNvSpPr/>
            <p:nvPr/>
          </p:nvSpPr>
          <p:spPr>
            <a:xfrm>
              <a:off x="0" y="3125216"/>
              <a:ext cx="1728470" cy="114935"/>
            </a:xfrm>
            <a:custGeom>
              <a:avLst/>
              <a:gdLst/>
              <a:ahLst/>
              <a:cxnLst/>
              <a:rect l="l" t="t" r="r" b="b"/>
              <a:pathLst>
                <a:path w="1728470" h="114935">
                  <a:moveTo>
                    <a:pt x="1728012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1728012" y="114782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4C78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8012" y="3125216"/>
              <a:ext cx="3168015" cy="114935"/>
            </a:xfrm>
            <a:custGeom>
              <a:avLst/>
              <a:gdLst/>
              <a:ahLst/>
              <a:cxnLst/>
              <a:rect l="l" t="t" r="r" b="b"/>
              <a:pathLst>
                <a:path w="3168015" h="114935">
                  <a:moveTo>
                    <a:pt x="3168015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3168015" y="114782"/>
                  </a:lnTo>
                  <a:lnTo>
                    <a:pt x="3168015" y="0"/>
                  </a:lnTo>
                  <a:close/>
                </a:path>
              </a:pathLst>
            </a:custGeom>
            <a:solidFill>
              <a:srgbClr val="265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6040" y="3125216"/>
              <a:ext cx="864235" cy="114935"/>
            </a:xfrm>
            <a:custGeom>
              <a:avLst/>
              <a:gdLst/>
              <a:ahLst/>
              <a:cxnLst/>
              <a:rect l="l" t="t" r="r" b="b"/>
              <a:pathLst>
                <a:path w="864235" h="114935">
                  <a:moveTo>
                    <a:pt x="863968" y="0"/>
                  </a:moveTo>
                  <a:lnTo>
                    <a:pt x="0" y="0"/>
                  </a:lnTo>
                  <a:lnTo>
                    <a:pt x="0" y="114782"/>
                  </a:lnTo>
                  <a:lnTo>
                    <a:pt x="863968" y="114782"/>
                  </a:lnTo>
                  <a:lnTo>
                    <a:pt x="863968" y="0"/>
                  </a:lnTo>
                  <a:close/>
                </a:path>
              </a:pathLst>
            </a:custGeom>
            <a:solidFill>
              <a:srgbClr val="003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033" y="3137167"/>
            <a:ext cx="511175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6381" y="3137167"/>
            <a:ext cx="215138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3164" y="3137167"/>
            <a:ext cx="278130" cy="100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4307" y="1379639"/>
            <a:ext cx="831850" cy="1930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chemeClr val="bg1"/>
                </a:solidFill>
                <a:latin typeface="Arial"/>
                <a:cs typeface="Arial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Conclusioni</a:t>
            </a:r>
            <a:endParaRPr sz="115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Conclusioni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694994"/>
            <a:ext cx="5584825" cy="193675"/>
          </a:xfrm>
          <a:custGeom>
            <a:avLst/>
            <a:gdLst/>
            <a:ahLst/>
            <a:cxnLst/>
            <a:rect l="l" t="t" r="r" b="b"/>
            <a:pathLst>
              <a:path w="5584825" h="19367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5584580" y="193069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729446"/>
            <a:ext cx="62611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Contributi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743" y="2033599"/>
            <a:ext cx="5584825" cy="203835"/>
          </a:xfrm>
          <a:custGeom>
            <a:avLst/>
            <a:gdLst/>
            <a:ahLst/>
            <a:cxnLst/>
            <a:rect l="l" t="t" r="r" b="b"/>
            <a:pathLst>
              <a:path w="5584825" h="203835">
                <a:moveTo>
                  <a:pt x="553377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605"/>
                </a:lnTo>
                <a:lnTo>
                  <a:pt x="5584580" y="203605"/>
                </a:lnTo>
                <a:lnTo>
                  <a:pt x="5584580" y="50800"/>
                </a:lnTo>
                <a:lnTo>
                  <a:pt x="5580571" y="31075"/>
                </a:lnTo>
                <a:lnTo>
                  <a:pt x="5569657" y="14922"/>
                </a:lnTo>
                <a:lnTo>
                  <a:pt x="5553504" y="4008"/>
                </a:lnTo>
                <a:lnTo>
                  <a:pt x="5533779" y="0"/>
                </a:lnTo>
                <a:close/>
              </a:path>
            </a:pathLst>
          </a:custGeom>
          <a:solidFill>
            <a:srgbClr val="CCE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8544" y="2068051"/>
            <a:ext cx="871219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solidFill>
                  <a:srgbClr val="003F72"/>
                </a:solidFill>
                <a:latin typeface="Times New Roman"/>
                <a:cs typeface="Times New Roman"/>
              </a:rPr>
              <a:t>Sviluppi</a:t>
            </a:r>
            <a:r>
              <a:rPr sz="1200" spc="15" dirty="0">
                <a:solidFill>
                  <a:srgbClr val="003F72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3F72"/>
                </a:solidFill>
                <a:latin typeface="Times New Roman"/>
                <a:cs typeface="Times New Roman"/>
              </a:rPr>
              <a:t>futuri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444" y="894714"/>
            <a:ext cx="5661025" cy="17538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4960" marR="499745" indent="-139065">
              <a:lnSpc>
                <a:spcPct val="102600"/>
              </a:lnSpc>
              <a:spcBef>
                <a:spcPts val="55"/>
              </a:spcBef>
              <a:buClr>
                <a:srgbClr val="003F72"/>
              </a:buClr>
              <a:buFont typeface="Meiryo UI"/>
              <a:buChar char="•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Pipeline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solidFill>
                  <a:srgbClr val="008CA0"/>
                </a:solidFill>
                <a:latin typeface="Tahoma"/>
                <a:cs typeface="Tahoma"/>
              </a:rPr>
              <a:t>generazione</a:t>
            </a:r>
            <a:r>
              <a:rPr sz="1100" spc="-25" dirty="0">
                <a:solidFill>
                  <a:srgbClr val="008CA0"/>
                </a:solidFill>
                <a:latin typeface="Tahoma"/>
                <a:cs typeface="Tahoma"/>
              </a:rPr>
              <a:t> sintetica</a:t>
            </a:r>
            <a:r>
              <a:rPr sz="1100" spc="-35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estesa: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artefatti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realistici,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ground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truth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automatica, </a:t>
            </a:r>
            <a:r>
              <a:rPr sz="1100" spc="-40" dirty="0">
                <a:latin typeface="Tahoma"/>
                <a:cs typeface="Tahoma"/>
              </a:rPr>
              <a:t>parallelizzazione</a:t>
            </a:r>
            <a:r>
              <a:rPr sz="1100" spc="-20" dirty="0">
                <a:latin typeface="Tahoma"/>
                <a:cs typeface="Tahoma"/>
              </a:rPr>
              <a:t> (3</a:t>
            </a:r>
            <a:r>
              <a:rPr sz="1100" i="1" spc="-20" dirty="0">
                <a:latin typeface="Meiryo UI"/>
                <a:cs typeface="Meiryo UI"/>
              </a:rPr>
              <a:t>×</a:t>
            </a:r>
            <a:r>
              <a:rPr sz="1100" spc="-20" dirty="0">
                <a:latin typeface="Tahoma"/>
                <a:cs typeface="Tahoma"/>
              </a:rPr>
              <a:t>),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supporto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multi-</a:t>
            </a:r>
            <a:r>
              <a:rPr sz="1100" spc="-10" dirty="0">
                <a:latin typeface="Tahoma"/>
                <a:cs typeface="Tahoma"/>
              </a:rPr>
              <a:t>dataset.</a:t>
            </a:r>
            <a:endParaRPr sz="1100" dirty="0">
              <a:latin typeface="Tahoma"/>
              <a:cs typeface="Tahoma"/>
            </a:endParaRPr>
          </a:p>
          <a:p>
            <a:pPr marL="314960" marR="567690" indent="-139065">
              <a:lnSpc>
                <a:spcPct val="102699"/>
              </a:lnSpc>
              <a:spcBef>
                <a:spcPts val="300"/>
              </a:spcBef>
              <a:buClr>
                <a:srgbClr val="003F72"/>
              </a:buClr>
              <a:buFont typeface="Meiryo UI"/>
              <a:buChar char="•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Modello</a:t>
            </a:r>
            <a:r>
              <a:rPr sz="1100" dirty="0">
                <a:latin typeface="Tahoma"/>
                <a:cs typeface="Tahoma"/>
              </a:rPr>
              <a:t> di </a:t>
            </a:r>
            <a:r>
              <a:rPr sz="1100" spc="-60" dirty="0">
                <a:solidFill>
                  <a:srgbClr val="008CA0"/>
                </a:solidFill>
                <a:latin typeface="Tahoma"/>
                <a:cs typeface="Tahoma"/>
              </a:rPr>
              <a:t>segmentazione</a:t>
            </a:r>
            <a:r>
              <a:rPr sz="110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U-</a:t>
            </a:r>
            <a:r>
              <a:rPr sz="1100" spc="-10" dirty="0">
                <a:latin typeface="Tahoma"/>
                <a:cs typeface="Tahoma"/>
              </a:rPr>
              <a:t>Net+scSE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loss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composita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(Focal+Dice+clDice)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 </a:t>
            </a:r>
            <a:r>
              <a:rPr sz="1100" spc="-35" dirty="0">
                <a:latin typeface="Tahoma"/>
                <a:cs typeface="Tahoma"/>
              </a:rPr>
              <a:t>curriculum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learning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stage.</a:t>
            </a:r>
            <a:endParaRPr sz="1100" dirty="0">
              <a:latin typeface="Tahoma"/>
              <a:cs typeface="Tahoma"/>
            </a:endParaRPr>
          </a:p>
          <a:p>
            <a:pPr marL="314960" indent="-138430">
              <a:lnSpc>
                <a:spcPct val="100000"/>
              </a:lnSpc>
              <a:spcBef>
                <a:spcPts val="334"/>
              </a:spcBef>
              <a:buClr>
                <a:srgbClr val="003F72"/>
              </a:buClr>
              <a:buFont typeface="Meiryo UI"/>
              <a:buChar char="•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Detection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head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multi-</a:t>
            </a:r>
            <a:r>
              <a:rPr sz="1100" spc="-20" dirty="0">
                <a:latin typeface="Tahoma"/>
                <a:cs typeface="Tahoma"/>
              </a:rPr>
              <a:t>task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cross-</a:t>
            </a:r>
            <a:r>
              <a:rPr sz="1100" spc="-25" dirty="0">
                <a:latin typeface="Tahoma"/>
                <a:cs typeface="Tahoma"/>
              </a:rPr>
              <a:t>attention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OBB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localizzazione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lead.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003F72"/>
              </a:buClr>
              <a:buFont typeface="Meiryo UI"/>
              <a:buChar char="•"/>
            </a:pP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003F72"/>
              </a:buClr>
              <a:buFont typeface="Meiryo UI"/>
              <a:buChar char="•"/>
            </a:pPr>
            <a:endParaRPr lang="it-IT" sz="1100" dirty="0">
              <a:latin typeface="Tahoma"/>
              <a:cs typeface="Tahoma"/>
            </a:endParaRPr>
          </a:p>
          <a:p>
            <a:pPr marL="314960" indent="-138430">
              <a:lnSpc>
                <a:spcPct val="100000"/>
              </a:lnSpc>
              <a:buClr>
                <a:srgbClr val="003F72"/>
              </a:buClr>
              <a:buFont typeface="Meiryo UI"/>
              <a:buChar char="•"/>
              <a:tabLst>
                <a:tab pos="314960" algn="l"/>
              </a:tabLst>
            </a:pPr>
            <a:r>
              <a:rPr sz="1100" spc="-50" dirty="0" err="1">
                <a:latin typeface="Tahoma"/>
                <a:cs typeface="Tahoma"/>
              </a:rPr>
              <a:t>Conversione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solidFill>
                  <a:srgbClr val="008CA0"/>
                </a:solidFill>
                <a:latin typeface="Tahoma"/>
                <a:cs typeface="Tahoma"/>
              </a:rPr>
              <a:t>maschera</a:t>
            </a:r>
            <a:r>
              <a:rPr sz="1100" spc="1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i="1" dirty="0">
                <a:solidFill>
                  <a:srgbClr val="008CA0"/>
                </a:solidFill>
                <a:latin typeface="Meiryo UI"/>
                <a:cs typeface="Meiryo UI"/>
              </a:rPr>
              <a:t>→</a:t>
            </a:r>
            <a:r>
              <a:rPr sz="1100" i="1" spc="-20" dirty="0">
                <a:solidFill>
                  <a:srgbClr val="008CA0"/>
                </a:solidFill>
                <a:latin typeface="Meiryo UI"/>
                <a:cs typeface="Meiryo UI"/>
              </a:rPr>
              <a:t> </a:t>
            </a:r>
            <a:r>
              <a:rPr sz="1100" spc="-70" dirty="0">
                <a:solidFill>
                  <a:srgbClr val="008CA0"/>
                </a:solidFill>
                <a:latin typeface="Tahoma"/>
                <a:cs typeface="Tahoma"/>
              </a:rPr>
              <a:t>segnale</a:t>
            </a:r>
            <a:r>
              <a:rPr sz="1100" spc="1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8CA0"/>
                </a:solidFill>
                <a:latin typeface="Tahoma"/>
                <a:cs typeface="Tahoma"/>
              </a:rPr>
              <a:t>numerico</a:t>
            </a:r>
            <a:r>
              <a:rPr sz="1100" spc="10" dirty="0">
                <a:solidFill>
                  <a:srgbClr val="008CA0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(digitalizzazione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completa).</a:t>
            </a:r>
            <a:endParaRPr sz="1100" dirty="0">
              <a:latin typeface="Tahoma"/>
              <a:cs typeface="Tahoma"/>
            </a:endParaRPr>
          </a:p>
          <a:p>
            <a:pPr marL="314960" indent="-138430">
              <a:lnSpc>
                <a:spcPct val="100000"/>
              </a:lnSpc>
              <a:spcBef>
                <a:spcPts val="335"/>
              </a:spcBef>
              <a:buClr>
                <a:srgbClr val="003F72"/>
              </a:buClr>
              <a:buFont typeface="Meiryo UI"/>
              <a:buChar char="•"/>
              <a:tabLst>
                <a:tab pos="314960" algn="l"/>
              </a:tabLst>
            </a:pPr>
            <a:r>
              <a:rPr sz="1100" spc="-35" dirty="0">
                <a:latin typeface="Tahoma"/>
                <a:cs typeface="Tahoma"/>
              </a:rPr>
              <a:t>Validazione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estesa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archivi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clinici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reali.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125216"/>
            <a:ext cx="1728470" cy="114935"/>
          </a:xfrm>
          <a:custGeom>
            <a:avLst/>
            <a:gdLst/>
            <a:ahLst/>
            <a:cxnLst/>
            <a:rect l="l" t="t" r="r" b="b"/>
            <a:pathLst>
              <a:path w="1728470" h="114935">
                <a:moveTo>
                  <a:pt x="1728012" y="0"/>
                </a:moveTo>
                <a:lnTo>
                  <a:pt x="0" y="0"/>
                </a:lnTo>
                <a:lnTo>
                  <a:pt x="0" y="114782"/>
                </a:lnTo>
                <a:lnTo>
                  <a:pt x="1728012" y="114782"/>
                </a:lnTo>
                <a:lnTo>
                  <a:pt x="1728012" y="0"/>
                </a:lnTo>
                <a:close/>
              </a:path>
            </a:pathLst>
          </a:custGeom>
          <a:solidFill>
            <a:srgbClr val="4C78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033" y="3118188"/>
            <a:ext cx="511175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Matteo</a:t>
            </a:r>
            <a:r>
              <a:rPr sz="6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Sardi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8012" y="3125216"/>
            <a:ext cx="3168015" cy="114935"/>
          </a:xfrm>
          <a:prstGeom prst="rect">
            <a:avLst/>
          </a:prstGeom>
          <a:solidFill>
            <a:srgbClr val="265B87"/>
          </a:solidFill>
        </p:spPr>
        <p:txBody>
          <a:bodyPr vert="horz" wrap="square" lIns="0" tIns="444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35"/>
              </a:spcBef>
            </a:pP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Generazione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Sintetica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Segmentazione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di</a:t>
            </a:r>
            <a:r>
              <a:rPr sz="6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lmmagini</a:t>
            </a:r>
            <a:r>
              <a:rPr sz="6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ECG</a:t>
            </a:r>
            <a:endParaRPr sz="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96040" y="3125216"/>
            <a:ext cx="864235" cy="114935"/>
          </a:xfrm>
          <a:custGeom>
            <a:avLst/>
            <a:gdLst/>
            <a:ahLst/>
            <a:cxnLst/>
            <a:rect l="l" t="t" r="r" b="b"/>
            <a:pathLst>
              <a:path w="864235" h="114935">
                <a:moveTo>
                  <a:pt x="863968" y="0"/>
                </a:moveTo>
                <a:lnTo>
                  <a:pt x="0" y="0"/>
                </a:lnTo>
                <a:lnTo>
                  <a:pt x="0" y="114782"/>
                </a:lnTo>
                <a:lnTo>
                  <a:pt x="863968" y="114782"/>
                </a:lnTo>
                <a:lnTo>
                  <a:pt x="863968" y="0"/>
                </a:lnTo>
                <a:close/>
              </a:path>
            </a:pathLst>
          </a:custGeom>
          <a:solidFill>
            <a:srgbClr val="00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53164" y="3118188"/>
            <a:ext cx="278130" cy="116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1g</a:t>
            </a:r>
            <a:r>
              <a:rPr sz="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dirty="0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sz="6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endParaRPr sz="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dirty="0">
                <a:solidFill>
                  <a:srgbClr val="003F72"/>
                </a:solidFill>
                <a:latin typeface="Lucida Sans Unicode"/>
                <a:cs typeface="Lucida Sans Unicode"/>
              </a:rPr>
              <a:t>Grazie</a:t>
            </a:r>
            <a:r>
              <a:rPr sz="2350" spc="445" dirty="0">
                <a:solidFill>
                  <a:srgbClr val="003F72"/>
                </a:solidFill>
                <a:latin typeface="Lucida Sans Unicode"/>
                <a:cs typeface="Lucida Sans Unicode"/>
              </a:rPr>
              <a:t> </a:t>
            </a:r>
            <a:r>
              <a:rPr sz="2350" dirty="0">
                <a:solidFill>
                  <a:srgbClr val="003F72"/>
                </a:solidFill>
                <a:latin typeface="Lucida Sans Unicode"/>
                <a:cs typeface="Lucida Sans Unicode"/>
              </a:rPr>
              <a:t>per</a:t>
            </a:r>
            <a:r>
              <a:rPr sz="2350" spc="445" dirty="0">
                <a:solidFill>
                  <a:srgbClr val="003F72"/>
                </a:solidFill>
                <a:latin typeface="Lucida Sans Unicode"/>
                <a:cs typeface="Lucida Sans Unicode"/>
              </a:rPr>
              <a:t> </a:t>
            </a:r>
            <a:r>
              <a:rPr sz="2350" spc="50" dirty="0">
                <a:solidFill>
                  <a:srgbClr val="003F72"/>
                </a:solidFill>
                <a:latin typeface="Lucida Sans Unicode"/>
                <a:cs typeface="Lucida Sans Unicode"/>
              </a:rPr>
              <a:t>I'attenzione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9956" y="1141600"/>
            <a:ext cx="3300095" cy="4565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Times New Roman"/>
                <a:cs typeface="Times New Roman"/>
              </a:rPr>
              <a:t>Matteo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Sardi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100" spc="-55" dirty="0">
                <a:latin typeface="Tahoma"/>
                <a:cs typeface="Tahoma"/>
              </a:rPr>
              <a:t>Generazione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Sintetica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Segmentazione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Immagini</a:t>
            </a:r>
            <a:r>
              <a:rPr sz="1100" spc="-25" dirty="0">
                <a:latin typeface="Tahoma"/>
                <a:cs typeface="Tahoma"/>
              </a:rPr>
              <a:t> ECG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8810" y="1813193"/>
            <a:ext cx="402382" cy="50397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1325</Words>
  <Application>Microsoft Office PowerPoint</Application>
  <PresentationFormat>Custom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Meiryo UI</vt:lpstr>
      <vt:lpstr>SimSun</vt:lpstr>
      <vt:lpstr>Arial</vt:lpstr>
      <vt:lpstr>Bell Centennial Std SubCaption</vt:lpstr>
      <vt:lpstr>Calibri</vt:lpstr>
      <vt:lpstr>Comic Sans MS</vt:lpstr>
      <vt:lpstr>Georgia</vt:lpstr>
      <vt:lpstr>Lucida Sans Unicode</vt:lpstr>
      <vt:lpstr>Myriad Pro SemiExt</vt:lpstr>
      <vt:lpstr>Tahoma</vt:lpstr>
      <vt:lpstr>Times New Roman</vt:lpstr>
      <vt:lpstr>Office Theme</vt:lpstr>
      <vt:lpstr>Matteo Sardi</vt:lpstr>
      <vt:lpstr>Struttura della presentazione</vt:lpstr>
      <vt:lpstr>PowerPoint Presentation</vt:lpstr>
      <vt:lpstr>Il problema: archivi clinici ancora su carta</vt:lpstr>
      <vt:lpstr>Lavori correlati: un gap aperto</vt:lpstr>
      <vt:lpstr>Obiettivo: una pipeline a due stadi</vt:lpstr>
      <vt:lpstr>PowerPoint Presentation</vt:lpstr>
      <vt:lpstr>Dal segnale all'immagine: rendering calibrato</vt:lpstr>
      <vt:lpstr>Il domain gap: artefatti realistici e contributi originali</vt:lpstr>
      <vt:lpstr>Coppia immagine / maschera: ground truth gratuita</vt:lpstr>
      <vt:lpstr>Risultati Stadio 1: parallelizzazione</vt:lpstr>
      <vt:lpstr>PowerPoint Presentation</vt:lpstr>
      <vt:lpstr>Architettura: U-Net + attenzione scSE</vt:lpstr>
      <vt:lpstr>Funzione di perdita composita</vt:lpstr>
      <vt:lpstr>Curriculum learning: dal facile al diicile</vt:lpstr>
      <vt:lpstr>Risultati Stadio 2: effetto del curriculum</vt:lpstr>
      <vt:lpstr>Estensione: detection head multi-task</vt:lpstr>
      <vt:lpstr>PowerPoint Presentation</vt:lpstr>
      <vt:lpstr>Conclusioni</vt:lpstr>
      <vt:lpstr>Grazie per I'attenzione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Generazione Sintetica e Segmentazione di Immagini ECG - Pipeline per la Digitalizzazione del Tracciato</dc:title>
  <dc:creator>Matteo Sardi</dc:creator>
  <cp:lastModifiedBy>Matteo Sardi</cp:lastModifiedBy>
  <cp:revision>1</cp:revision>
  <dcterms:created xsi:type="dcterms:W3CDTF">2026-07-01T18:37:51Z</dcterms:created>
  <dcterms:modified xsi:type="dcterms:W3CDTF">2026-07-01T18:46:07Z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2026-07-01T00:00:00Z</vt:filetime>
  </property>
  <property fmtid="{D5CDD505-2E9C-101B-9397-08002B2CF9AE}" pid="5" name="PTEX.Fullbanner">
    <vt:lpwstr>This is MiKTeX-pdfTeX 4.24.0 (1.40.29)</vt:lpwstr>
  </property>
  <property fmtid="{D5CDD505-2E9C-101B-9397-08002B2CF9AE}" pid="6" name="Producer">
    <vt:lpwstr>MiKTeX pdfTeX-1.40.29</vt:lpwstr>
  </property>
</Properties>
</file>